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mmersia" id="{fcfc2388-0137-1695-b748-ced8e3cf4d4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Immersia — slide unique pour la commission d'ingénierie pédagogique de PST&amp;B.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ERS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ortfolio/presentations/immersia/build/pstb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161288" cy="502920"/>
          </a:xfrm>
          <a:prstGeom prst="rect">
            <a:avLst/>
          </a:prstGeom>
        </p:spPr>
      </p:pic>
      <p:pic>
        <p:nvPicPr>
          <p:cNvPr id="3" name="Image 1" descr="/home/user/Portfolio/presentations/immersia/build/opco-atla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056" y="329184"/>
            <a:ext cx="1106424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12680" y="9692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Les CFA de demain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828800" y="320040"/>
            <a:ext cx="8549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Immersia — des labs prêts à l'emploi, immersifs et pilotés par l'IA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1828800" y="713232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Projet PST&amp;B soutenu par OPCO Atlas · appel à projets « Les CFA de demain »</a:t>
            </a:r>
            <a:endParaRPr lang="en-US" sz="1100" dirty="0"/>
          </a:p>
        </p:txBody>
      </p:sp>
      <p:sp>
        <p:nvSpPr>
          <p:cNvPr id="4" name="problem-card"/>
          <p:cNvSpPr/>
          <p:nvPr/>
        </p:nvSpPr>
        <p:spPr>
          <a:xfrm>
            <a:off x="365760" y="1033272"/>
            <a:ext cx="3749040" cy="5504688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/>
        </p:spPr>
      </p:sp>
      <p:sp>
        <p:nvSpPr>
          <p:cNvPr id="5" name="problem-header"/>
          <p:cNvSpPr txBox="1"/>
          <p:nvPr/>
        </p:nvSpPr>
        <p:spPr>
          <a:xfrm>
            <a:off x="548640" y="11521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 problème</a:t>
            </a:r>
            <a:endParaRPr lang="en-US" sz="1300" dirty="0"/>
          </a:p>
        </p:txBody>
      </p:sp>
      <p:sp>
        <p:nvSpPr>
          <p:cNvPr id="6" name="problem-sentence"/>
          <p:cNvSpPr txBox="1"/>
          <p:nvPr/>
        </p:nvSpPr>
        <p:spPr>
          <a:xfrm>
            <a:off x="548640" y="1472184"/>
            <a:ext cx="3383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 machines et des installations différentes pour chaque étudiant : avant le premier exercice, le TD se perd en configuration et l'enseignant dépanne au lieu d'enseigner.</a:t>
            </a:r>
            <a:endParaRPr lang="en-US" sz="1200" dirty="0"/>
          </a:p>
        </p:txBody>
      </p:sp>
      <p:sp>
        <p:nvSpPr>
          <p:cNvPr id="7" name="stat1-number"/>
          <p:cNvSpPr txBox="1"/>
          <p:nvPr/>
        </p:nvSpPr>
        <p:spPr>
          <a:xfrm>
            <a:off x="548640" y="215798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jusqu'à </a:t>
            </a:r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30 h</a:t>
            </a:r>
            <a:endParaRPr lang="en-US" sz="2000" dirty="0"/>
          </a:p>
        </p:txBody>
      </p:sp>
      <p:sp>
        <p:nvSpPr>
          <p:cNvPr id="8" name="stat1-label"/>
          <p:cNvSpPr txBox="1"/>
          <p:nvPr/>
        </p:nvSpPr>
        <p:spPr>
          <a:xfrm>
            <a:off x="548640" y="301752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passées par un étudiant à installer l'environnement d'un projet (médiane &gt; 2 h). Plainte n°1 : les versions de Python et des packages.</a:t>
            </a:r>
            <a:endParaRPr lang="en-US" sz="1000" dirty="0"/>
          </a:p>
        </p:txBody>
      </p:sp>
      <p:sp>
        <p:nvSpPr>
          <p:cNvPr id="9" name="stat2-number"/>
          <p:cNvSpPr txBox="1"/>
          <p:nvPr/>
        </p:nvSpPr>
        <p:spPr>
          <a:xfrm>
            <a:off x="548640" y="343814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61 %</a:t>
            </a:r>
            <a:endParaRPr lang="en-US" sz="5400" dirty="0"/>
          </a:p>
        </p:txBody>
      </p:sp>
      <p:sp>
        <p:nvSpPr>
          <p:cNvPr id="10" name="stat2-label"/>
          <p:cNvSpPr txBox="1"/>
          <p:nvPr/>
        </p:nvSpPr>
        <p:spPr>
          <a:xfrm>
            <a:off x="548640" y="429768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des étudiants placent « aucune installation requise » parmi les fonctionnalités les plus utiles d'un environnement de programmation.</a:t>
            </a:r>
            <a:endParaRPr lang="en-US" sz="1000" dirty="0"/>
          </a:p>
        </p:txBody>
      </p:sp>
      <p:sp>
        <p:nvSpPr>
          <p:cNvPr id="11" name="audience1-circle"/>
          <p:cNvSpPr/>
          <p:nvPr/>
        </p:nvSpPr>
        <p:spPr>
          <a:xfrm>
            <a:off x="548640" y="492861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udience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01768"/>
            <a:ext cx="182880" cy="182880"/>
          </a:xfrm>
          <a:prstGeom prst="rect">
            <a:avLst/>
          </a:prstGeom>
        </p:spPr>
      </p:pic>
      <p:sp>
        <p:nvSpPr>
          <p:cNvPr id="13" name="audience1-text"/>
          <p:cNvSpPr txBox="1"/>
          <p:nvPr/>
        </p:nvSpPr>
        <p:spPr>
          <a:xfrm>
            <a:off x="987552" y="491032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Étudiants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Zéro installation : un environnement identique pour tous, prêt en un clic.</a:t>
            </a:r>
            <a:endParaRPr lang="en-US" sz="1000" dirty="0"/>
          </a:p>
        </p:txBody>
      </p:sp>
      <p:sp>
        <p:nvSpPr>
          <p:cNvPr id="14" name="audience2-circle"/>
          <p:cNvSpPr/>
          <p:nvPr/>
        </p:nvSpPr>
        <p:spPr>
          <a:xfrm>
            <a:off x="548640" y="543153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audience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504688"/>
            <a:ext cx="182880" cy="182880"/>
          </a:xfrm>
          <a:prstGeom prst="rect">
            <a:avLst/>
          </a:prstGeom>
        </p:spPr>
      </p:pic>
      <p:sp>
        <p:nvSpPr>
          <p:cNvPr id="16" name="audience2-text"/>
          <p:cNvSpPr txBox="1"/>
          <p:nvPr/>
        </p:nvSpPr>
        <p:spPr>
          <a:xfrm>
            <a:off x="987552" y="54132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Apprentis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Immersion dans des scénarios d'entreprise réalistes : banque, conseil, assurance.</a:t>
            </a:r>
            <a:endParaRPr lang="en-US" sz="1000" dirty="0"/>
          </a:p>
        </p:txBody>
      </p:sp>
      <p:sp>
        <p:nvSpPr>
          <p:cNvPr id="17" name="audience3-circle"/>
          <p:cNvSpPr/>
          <p:nvPr/>
        </p:nvSpPr>
        <p:spPr>
          <a:xfrm>
            <a:off x="548640" y="59344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audience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007608"/>
            <a:ext cx="182880" cy="182880"/>
          </a:xfrm>
          <a:prstGeom prst="rect">
            <a:avLst/>
          </a:prstGeom>
        </p:spPr>
      </p:pic>
      <p:sp>
        <p:nvSpPr>
          <p:cNvPr id="19" name="audience3-text"/>
          <p:cNvSpPr txBox="1"/>
          <p:nvPr/>
        </p:nvSpPr>
        <p:spPr>
          <a:xfrm>
            <a:off x="987552" y="591616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Enseignants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Des cas d'usage prêts à l'emploi et une vue de suivi de la classe.</a:t>
            </a:r>
            <a:endParaRPr lang="en-US" sz="1000" dirty="0"/>
          </a:p>
        </p:txBody>
      </p:sp>
      <p:sp>
        <p:nvSpPr>
          <p:cNvPr id="20" name="solution-header"/>
          <p:cNvSpPr txBox="1"/>
          <p:nvPr/>
        </p:nvSpPr>
        <p:spPr>
          <a:xfrm>
            <a:off x="4480560" y="1152144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 solution Immersia</a:t>
            </a:r>
            <a:endParaRPr lang="en-US" sz="1300" dirty="0"/>
          </a:p>
        </p:txBody>
      </p:sp>
      <p:sp>
        <p:nvSpPr>
          <p:cNvPr id="21" name="card1-bg"/>
          <p:cNvSpPr/>
          <p:nvPr/>
        </p:nvSpPr>
        <p:spPr>
          <a:xfrm>
            <a:off x="4480560" y="1655064"/>
            <a:ext cx="1975104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card1-circle"/>
          <p:cNvSpPr/>
          <p:nvPr/>
        </p:nvSpPr>
        <p:spPr>
          <a:xfrm>
            <a:off x="4590288" y="1783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card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865376"/>
            <a:ext cx="201168" cy="201168"/>
          </a:xfrm>
          <a:prstGeom prst="rect">
            <a:avLst/>
          </a:prstGeom>
        </p:spPr>
      </p:pic>
      <p:sp>
        <p:nvSpPr>
          <p:cNvPr id="24" name="card1-title"/>
          <p:cNvSpPr txBox="1"/>
          <p:nvPr/>
        </p:nvSpPr>
        <p:spPr>
          <a:xfrm>
            <a:off x="5047488" y="177393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Connexion &amp; accès</a:t>
            </a:r>
            <a:endParaRPr lang="en-US" sz="1200" dirty="0"/>
          </a:p>
        </p:txBody>
      </p:sp>
      <p:sp>
        <p:nvSpPr>
          <p:cNvPr id="25" name="card1-bullets"/>
          <p:cNvSpPr txBox="1"/>
          <p:nvPr/>
        </p:nvSpPr>
        <p:spPr>
          <a:xfrm>
            <a:off x="4590288" y="2286000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Authentification liée aux comptes étudiants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Espaces par promotion et par module</a:t>
            </a:r>
            <a:endParaRPr lang="en-US" sz="1000" dirty="0"/>
          </a:p>
        </p:txBody>
      </p:sp>
      <p:sp>
        <p:nvSpPr>
          <p:cNvPr id="26" name="card2-bg"/>
          <p:cNvSpPr/>
          <p:nvPr/>
        </p:nvSpPr>
        <p:spPr>
          <a:xfrm>
            <a:off x="6729984" y="1490472"/>
            <a:ext cx="2478024" cy="1700784"/>
          </a:xfrm>
          <a:prstGeom prst="roundRect">
            <a:avLst>
              <a:gd name="adj" fmla="val 4301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38100" dist="12700" dir="5400000">
              <a:srgbClr val="1C1F3A">
                <a:alpha val="20000"/>
              </a:srgbClr>
            </a:outerShdw>
          </a:effectLst>
        </p:spPr>
      </p:sp>
      <p:sp>
        <p:nvSpPr>
          <p:cNvPr id="27" name="card2-circle"/>
          <p:cNvSpPr/>
          <p:nvPr/>
        </p:nvSpPr>
        <p:spPr>
          <a:xfrm>
            <a:off x="6839712" y="1581912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8" name="card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1664208"/>
            <a:ext cx="201168" cy="201168"/>
          </a:xfrm>
          <a:prstGeom prst="rect">
            <a:avLst/>
          </a:prstGeom>
        </p:spPr>
      </p:pic>
      <p:sp>
        <p:nvSpPr>
          <p:cNvPr id="29" name="card2-title"/>
          <p:cNvSpPr txBox="1"/>
          <p:nvPr/>
        </p:nvSpPr>
        <p:spPr>
          <a:xfrm>
            <a:off x="7296912" y="157276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Scénarios &amp; Labs Immersia</a:t>
            </a:r>
            <a:endParaRPr lang="en-US" sz="1200" dirty="0"/>
          </a:p>
        </p:txBody>
      </p:sp>
      <p:sp>
        <p:nvSpPr>
          <p:cNvPr id="30" name="card2-bullets"/>
          <p:cNvSpPr txBox="1"/>
          <p:nvPr/>
        </p:nvSpPr>
        <p:spPr>
          <a:xfrm>
            <a:off x="6839712" y="2002536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Environnements préconfigurés, zéro installation</a:t>
            </a:r>
            <a:endParaRPr lang="en-US" sz="1000" dirty="0"/>
          </a:p>
          <a:p>
            <a:pPr marL="152400" indent="-152400"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IA checker : vérification automatique des rendus</a:t>
            </a:r>
            <a:endParaRPr lang="en-US" sz="1000" dirty="0"/>
          </a:p>
          <a:p>
            <a:pPr marL="152400" indent="-152400"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Extension VS Code</a:t>
            </a:r>
            <a:endParaRPr lang="en-US" sz="1000" dirty="0"/>
          </a:p>
          <a:p>
            <a:pPr marL="152400" indent="-152400"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Datasets &amp; notebooks en accès direct</a:t>
            </a:r>
            <a:endParaRPr lang="en-US" sz="1000" dirty="0"/>
          </a:p>
          <a:p>
            <a:pPr marL="152400" indent="-152400"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Option no-code</a:t>
            </a:r>
            <a:endParaRPr lang="en-US" sz="1000" dirty="0"/>
          </a:p>
        </p:txBody>
      </p:sp>
      <p:sp>
        <p:nvSpPr>
          <p:cNvPr id="31" name="card3-bg"/>
          <p:cNvSpPr/>
          <p:nvPr/>
        </p:nvSpPr>
        <p:spPr>
          <a:xfrm>
            <a:off x="9482328" y="1655064"/>
            <a:ext cx="23591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2" name="card3-circle"/>
          <p:cNvSpPr/>
          <p:nvPr/>
        </p:nvSpPr>
        <p:spPr>
          <a:xfrm>
            <a:off x="9592056" y="17830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card3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1865376"/>
            <a:ext cx="201168" cy="201168"/>
          </a:xfrm>
          <a:prstGeom prst="rect">
            <a:avLst/>
          </a:prstGeom>
        </p:spPr>
      </p:pic>
      <p:sp>
        <p:nvSpPr>
          <p:cNvPr id="34" name="card3-title"/>
          <p:cNvSpPr txBox="1"/>
          <p:nvPr/>
        </p:nvSpPr>
        <p:spPr>
          <a:xfrm>
            <a:off x="10049256" y="177393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Vue enseignant ·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notre modèle LLM</a:t>
            </a:r>
            <a:endParaRPr lang="en-US" sz="1200" dirty="0"/>
          </a:p>
        </p:txBody>
      </p:sp>
      <p:sp>
        <p:nvSpPr>
          <p:cNvPr id="35" name="card3-bullets"/>
          <p:cNvSpPr txBox="1"/>
          <p:nvPr/>
        </p:nvSpPr>
        <p:spPr>
          <a:xfrm>
            <a:off x="9592056" y="2286000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Résumé de l'activité de la classe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Détection des difficultés rencontrées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Concepts les moins bien maîtrisés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Font typeface="Arial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Suivi des versions des soumissions</a:t>
            </a:r>
            <a:endParaRPr lang="en-US" sz="1000" dirty="0"/>
          </a:p>
        </p:txBody>
      </p:sp>
      <p:sp>
        <p:nvSpPr>
          <p:cNvPr id="36" name="chevron1"/>
          <p:cNvSpPr/>
          <p:nvPr/>
        </p:nvSpPr>
        <p:spPr>
          <a:xfrm>
            <a:off x="6519672" y="2185416"/>
            <a:ext cx="146304" cy="310896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7" name="chevron2"/>
          <p:cNvSpPr/>
          <p:nvPr/>
        </p:nvSpPr>
        <p:spPr>
          <a:xfrm>
            <a:off x="9272016" y="2185416"/>
            <a:ext cx="146304" cy="310896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8" name="timeline-header"/>
          <p:cNvSpPr txBox="1"/>
          <p:nvPr/>
        </p:nvSpPr>
        <p:spPr>
          <a:xfrm>
            <a:off x="4480560" y="3310128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Jalons vers la bêta MVP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(dates indicatives)</a:t>
            </a:r>
            <a:endParaRPr lang="en-US" sz="1300" dirty="0"/>
          </a:p>
        </p:txBody>
      </p:sp>
      <p:sp>
        <p:nvSpPr>
          <p:cNvPr id="39" name="timeline-line"/>
          <p:cNvSpPr/>
          <p:nvPr/>
        </p:nvSpPr>
        <p:spPr>
          <a:xfrm>
            <a:off x="4553712" y="4078224"/>
            <a:ext cx="72877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milestone1-dot"/>
          <p:cNvSpPr/>
          <p:nvPr/>
        </p:nvSpPr>
        <p:spPr>
          <a:xfrm>
            <a:off x="4480560" y="4005072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milestone1-date"/>
          <p:cNvSpPr txBox="1"/>
          <p:nvPr/>
        </p:nvSpPr>
        <p:spPr>
          <a:xfrm>
            <a:off x="4480560" y="3666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Oct. 2026</a:t>
            </a:r>
            <a:endParaRPr lang="en-US" sz="1000" dirty="0"/>
          </a:p>
        </p:txBody>
      </p:sp>
      <p:sp>
        <p:nvSpPr>
          <p:cNvPr id="42" name="milestone1-label"/>
          <p:cNvSpPr txBox="1"/>
          <p:nvPr/>
        </p:nvSpPr>
        <p:spPr>
          <a:xfrm>
            <a:off x="4480560" y="42793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Cadrage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scénarios cibles validés</a:t>
            </a:r>
            <a:endParaRPr lang="en-US" sz="1000" dirty="0"/>
          </a:p>
        </p:txBody>
      </p:sp>
      <p:sp>
        <p:nvSpPr>
          <p:cNvPr id="43" name="milestone2-dot"/>
          <p:cNvSpPr/>
          <p:nvPr/>
        </p:nvSpPr>
        <p:spPr>
          <a:xfrm>
            <a:off x="5952744" y="4005072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4" name="milestone2-date"/>
          <p:cNvSpPr txBox="1"/>
          <p:nvPr/>
        </p:nvSpPr>
        <p:spPr>
          <a:xfrm>
            <a:off x="5952744" y="3666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Déc. 2026</a:t>
            </a:r>
            <a:endParaRPr lang="en-US" sz="1000" dirty="0"/>
          </a:p>
        </p:txBody>
      </p:sp>
      <p:sp>
        <p:nvSpPr>
          <p:cNvPr id="45" name="milestone2-label"/>
          <p:cNvSpPr txBox="1"/>
          <p:nvPr/>
        </p:nvSpPr>
        <p:spPr>
          <a:xfrm>
            <a:off x="5952744" y="42793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Prototype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connexion + 1er scénario (banque)</a:t>
            </a:r>
            <a:endParaRPr lang="en-US" sz="1000" dirty="0"/>
          </a:p>
        </p:txBody>
      </p:sp>
      <p:sp>
        <p:nvSpPr>
          <p:cNvPr id="46" name="milestone3-dot"/>
          <p:cNvSpPr/>
          <p:nvPr/>
        </p:nvSpPr>
        <p:spPr>
          <a:xfrm>
            <a:off x="7415784" y="3995928"/>
            <a:ext cx="164592" cy="16459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7" name="milestone3-date"/>
          <p:cNvSpPr txBox="1"/>
          <p:nvPr/>
        </p:nvSpPr>
        <p:spPr>
          <a:xfrm>
            <a:off x="7338060" y="3657600"/>
            <a:ext cx="640080" cy="1828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Fév. 2027</a:t>
            </a:r>
            <a:endParaRPr lang="en-US" sz="1000" dirty="0"/>
          </a:p>
        </p:txBody>
      </p:sp>
      <p:sp>
        <p:nvSpPr>
          <p:cNvPr id="48" name="milestone3-label"/>
          <p:cNvSpPr txBox="1"/>
          <p:nvPr/>
        </p:nvSpPr>
        <p:spPr>
          <a:xfrm>
            <a:off x="7424928" y="42793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Bêta MVP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3 scénarios (banque, conseil, assurance), IA checker, vue enseignant</a:t>
            </a:r>
            <a:endParaRPr lang="en-US" sz="1000" dirty="0"/>
          </a:p>
        </p:txBody>
      </p:sp>
      <p:sp>
        <p:nvSpPr>
          <p:cNvPr id="49" name="milestone4-dot"/>
          <p:cNvSpPr/>
          <p:nvPr/>
        </p:nvSpPr>
        <p:spPr>
          <a:xfrm>
            <a:off x="8897112" y="4005072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0" name="milestone4-date"/>
          <p:cNvSpPr txBox="1"/>
          <p:nvPr/>
        </p:nvSpPr>
        <p:spPr>
          <a:xfrm>
            <a:off x="8897112" y="3666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Avr. 2027</a:t>
            </a:r>
            <a:endParaRPr lang="en-US" sz="1000" dirty="0"/>
          </a:p>
        </p:txBody>
      </p:sp>
      <p:sp>
        <p:nvSpPr>
          <p:cNvPr id="51" name="milestone4-label"/>
          <p:cNvSpPr txBox="1"/>
          <p:nvPr/>
        </p:nvSpPr>
        <p:spPr>
          <a:xfrm>
            <a:off x="8897112" y="42793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Pilote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une promotion, enseignants volontaires</a:t>
            </a:r>
            <a:endParaRPr lang="en-US" sz="1000" dirty="0"/>
          </a:p>
        </p:txBody>
      </p:sp>
      <p:sp>
        <p:nvSpPr>
          <p:cNvPr id="52" name="milestone5-dot"/>
          <p:cNvSpPr/>
          <p:nvPr/>
        </p:nvSpPr>
        <p:spPr>
          <a:xfrm>
            <a:off x="10369296" y="4005072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3" name="milestone5-date"/>
          <p:cNvSpPr txBox="1"/>
          <p:nvPr/>
        </p:nvSpPr>
        <p:spPr>
          <a:xfrm>
            <a:off x="10369296" y="36667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Juin 2027</a:t>
            </a:r>
            <a:endParaRPr lang="en-US" sz="1000" dirty="0"/>
          </a:p>
        </p:txBody>
      </p:sp>
      <p:sp>
        <p:nvSpPr>
          <p:cNvPr id="54" name="milestone5-label"/>
          <p:cNvSpPr txBox="1"/>
          <p:nvPr/>
        </p:nvSpPr>
        <p:spPr>
          <a:xfrm>
            <a:off x="10369296" y="4279392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Bilan KPIs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— V1</a:t>
            </a:r>
            <a:endParaRPr lang="en-US" sz="1000" dirty="0"/>
          </a:p>
        </p:txBody>
      </p:sp>
      <p:sp>
        <p:nvSpPr>
          <p:cNvPr id="55" name="kpi-header"/>
          <p:cNvSpPr txBox="1"/>
          <p:nvPr/>
        </p:nvSpPr>
        <p:spPr>
          <a:xfrm>
            <a:off x="4480560" y="4910328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KPIs cibles du MVP</a:t>
            </a:r>
            <a:endParaRPr lang="en-US" sz="1300" dirty="0"/>
          </a:p>
        </p:txBody>
      </p:sp>
      <p:sp>
        <p:nvSpPr>
          <p:cNvPr id="56" name="kpi1-bg"/>
          <p:cNvSpPr/>
          <p:nvPr/>
        </p:nvSpPr>
        <p:spPr>
          <a:xfrm>
            <a:off x="4480560" y="5230368"/>
            <a:ext cx="1737360" cy="850392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57" name="kpi1-number"/>
          <p:cNvSpPr txBox="1"/>
          <p:nvPr/>
        </p:nvSpPr>
        <p:spPr>
          <a:xfrm>
            <a:off x="4572000" y="5239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≥ 90 %</a:t>
            </a:r>
            <a:endParaRPr lang="en-US" sz="2000" dirty="0"/>
          </a:p>
        </p:txBody>
      </p:sp>
      <p:sp>
        <p:nvSpPr>
          <p:cNvPr id="58" name="kpi1-label"/>
          <p:cNvSpPr txBox="1"/>
          <p:nvPr/>
        </p:nvSpPr>
        <p:spPr>
          <a:xfrm>
            <a:off x="4572000" y="55504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étudiants connectés via leur compte dès la 1re semaine</a:t>
            </a:r>
            <a:endParaRPr lang="en-US" sz="1000" dirty="0"/>
          </a:p>
        </p:txBody>
      </p:sp>
      <p:sp>
        <p:nvSpPr>
          <p:cNvPr id="59" name="kpi2-bg"/>
          <p:cNvSpPr/>
          <p:nvPr/>
        </p:nvSpPr>
        <p:spPr>
          <a:xfrm>
            <a:off x="6355080" y="5230368"/>
            <a:ext cx="1737360" cy="850392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0" name="kpi2-number"/>
          <p:cNvSpPr txBox="1"/>
          <p:nvPr/>
        </p:nvSpPr>
        <p:spPr>
          <a:xfrm>
            <a:off x="6446520" y="5239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&lt; 5 min</a:t>
            </a:r>
            <a:endParaRPr lang="en-US" sz="2000" dirty="0"/>
          </a:p>
        </p:txBody>
      </p:sp>
      <p:sp>
        <p:nvSpPr>
          <p:cNvPr id="61" name="kpi2-label"/>
          <p:cNvSpPr txBox="1"/>
          <p:nvPr/>
        </p:nvSpPr>
        <p:spPr>
          <a:xfrm>
            <a:off x="6446520" y="55504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pour démarrer un lab (contre une séance perdue aujourd'hui)</a:t>
            </a:r>
            <a:endParaRPr lang="en-US" sz="1000" dirty="0"/>
          </a:p>
        </p:txBody>
      </p:sp>
      <p:sp>
        <p:nvSpPr>
          <p:cNvPr id="62" name="kpi3-bg"/>
          <p:cNvSpPr/>
          <p:nvPr/>
        </p:nvSpPr>
        <p:spPr>
          <a:xfrm>
            <a:off x="8229600" y="5230368"/>
            <a:ext cx="1737360" cy="850392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3" name="kpi3-number"/>
          <p:cNvSpPr txBox="1"/>
          <p:nvPr/>
        </p:nvSpPr>
        <p:spPr>
          <a:xfrm>
            <a:off x="8321040" y="5239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≥ 2 / sem.</a:t>
            </a:r>
            <a:endParaRPr lang="en-US" sz="2000" dirty="0"/>
          </a:p>
        </p:txBody>
      </p:sp>
      <p:sp>
        <p:nvSpPr>
          <p:cNvPr id="64" name="kpi3-label"/>
          <p:cNvSpPr txBox="1"/>
          <p:nvPr/>
        </p:nvSpPr>
        <p:spPr>
          <a:xfrm>
            <a:off x="8321040" y="55504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sessions par étudiant et par module</a:t>
            </a:r>
            <a:endParaRPr lang="en-US" sz="1000" dirty="0"/>
          </a:p>
        </p:txBody>
      </p:sp>
      <p:sp>
        <p:nvSpPr>
          <p:cNvPr id="65" name="kpi4-bg"/>
          <p:cNvSpPr/>
          <p:nvPr/>
        </p:nvSpPr>
        <p:spPr>
          <a:xfrm>
            <a:off x="10104120" y="5230368"/>
            <a:ext cx="1737360" cy="850392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6" name="kpi4-number"/>
          <p:cNvSpPr txBox="1"/>
          <p:nvPr/>
        </p:nvSpPr>
        <p:spPr>
          <a:xfrm>
            <a:off x="10195560" y="5239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≥ 4 / 5</a:t>
            </a:r>
            <a:endParaRPr lang="en-US" sz="2000" dirty="0"/>
          </a:p>
        </p:txBody>
      </p:sp>
      <p:sp>
        <p:nvSpPr>
          <p:cNvPr id="67" name="kpi4-label"/>
          <p:cNvSpPr txBox="1"/>
          <p:nvPr/>
        </p:nvSpPr>
        <p:spPr>
          <a:xfrm>
            <a:off x="10195560" y="55504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satisfaction étudiants et enseignants pilotes</a:t>
            </a:r>
            <a:endParaRPr lang="en-US" sz="1000" dirty="0"/>
          </a:p>
        </p:txBody>
      </p:sp>
      <p:sp>
        <p:nvSpPr>
          <p:cNvPr id="68" name="sources"/>
          <p:cNvSpPr txBox="1"/>
          <p:nvPr/>
        </p:nvSpPr>
        <p:spPr>
          <a:xfrm>
            <a:off x="4480560" y="6254496"/>
            <a:ext cx="7360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Sources : (1) Storks, Yu, Ma &amp; Chai, « NLP Reproducibility For All », ACL 2023 — 93 étudiants, Univ. du Michigan.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(2) Velez et al., « Student Adoption and Perceptions of a Web IDE », ACM SIGCSE 2020 — enquête, 140 étudiants, UC Davis.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4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4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4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7" grpId="1" animBg="1"/>
      <p:bldP spid="8" grpId="1" animBg="1"/>
      <p:bldP spid="9" grpId="0" animBg="1"/>
      <p:bldP spid="10" grpId="0" animBg="1"/>
      <p:bldP spid="9" grpId="1" animBg="1"/>
      <p:bldP spid="10" grpId="1" animBg="1"/>
    </p:bldLst>
  </p:timing>
</p:sld>
</file>

<file path=ppt/theme/theme1.xml><?xml version="1.0" encoding="utf-8"?>
<a:theme xmlns:a="http://schemas.openxmlformats.org/drawingml/2006/main" name="Immersia">
  <a:themeElements>
    <a:clrScheme name="Immersia">
      <a:dk1>
        <a:srgbClr val="1C1F3A"/>
      </a:dk1>
      <a:lt1>
        <a:srgbClr val="FFFFFF"/>
      </a:lt1>
      <a:dk2>
        <a:srgbClr val="4A4F6B"/>
      </a:dk2>
      <a:lt2>
        <a:srgbClr val="F2F3F8"/>
      </a:lt2>
      <a:accent1>
        <a:srgbClr val="E30613"/>
      </a:accent1>
      <a:accent2>
        <a:srgbClr val="2D2D5A"/>
      </a:accent2>
      <a:accent3>
        <a:srgbClr val="7850DC"/>
      </a:accent3>
      <a:accent4>
        <a:srgbClr val="0E8A6D"/>
      </a:accent4>
      <a:accent5>
        <a:srgbClr val="F2A900"/>
      </a:accent5>
      <a:accent6>
        <a:srgbClr val="8A8FA8"/>
      </a:accent6>
      <a:hlink>
        <a:srgbClr val="7850DC"/>
      </a:hlink>
      <a:folHlink>
        <a:srgbClr val="4A4F6B"/>
      </a:folHlink>
    </a:clrScheme>
    <a:fontScheme name="Immers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Immersia — des labs prêts à l'emploi, immersifs et pilotés par l'IA</dc:title>
  <dc:subject>PptxGenJS Presentation</dc:subject>
  <dc:creator>PST&amp;B</dc:creator>
  <cp:lastModifiedBy>PST&amp;B</cp:lastModifiedBy>
  <cp:revision>1</cp:revision>
  <dcterms:created xsi:type="dcterms:W3CDTF">2026-10-07T13:36:49Z</dcterms:created>
  <dcterms:modified xsi:type="dcterms:W3CDTF">2026-10-07T13:36:49Z</dcterms:modified>
</cp:coreProperties>
</file>