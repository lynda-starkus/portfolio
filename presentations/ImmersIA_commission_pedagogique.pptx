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ImmersIA en une slide. Gauche : le problème (machines hétérogènes, TP perdus en installation) et deux chiffres qui apparaissent au clic. Droite : la solution en trois briques, la feuille de route jusqu'au déploiement, les cibles du MVP.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neau cyan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sp>
        <p:nvSpPr>
          <p:cNvPr id="3" name="Biseau cyan"/>
          <p:cNvSpPr/>
          <p:nvPr/>
        </p:nvSpPr>
        <p:spPr>
          <a:xfrm flipV="1">
            <a:off x="3922776" y="0"/>
            <a:ext cx="731520" cy="6858000"/>
          </a:xfrm>
          <a:prstGeom prst="rtTriangl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sp>
        <p:nvSpPr>
          <p:cNvPr id="4" name="Angle violet"/>
          <p:cNvSpPr/>
          <p:nvPr/>
        </p:nvSpPr>
        <p:spPr>
          <a:xfrm flipV="1">
            <a:off x="0" y="0"/>
            <a:ext cx="685800" cy="1554480"/>
          </a:xfrm>
          <a:prstGeom prst="rtTriangle">
            <a:avLst/>
          </a:prstGeom>
          <a:solidFill>
            <a:srgbClr val="522582"/>
          </a:solidFill>
          <a:ln w="12700">
            <a:solidFill>
              <a:srgbClr val="522582"/>
            </a:solidFill>
            <a:prstDash val="solid"/>
          </a:ln>
        </p:spPr>
      </p:sp>
      <p:sp>
        <p:nvSpPr>
          <p:cNvPr id="5" name="Angle magenta"/>
          <p:cNvSpPr/>
          <p:nvPr/>
        </p:nvSpPr>
        <p:spPr>
          <a:xfrm>
            <a:off x="0" y="4754880"/>
            <a:ext cx="1234440" cy="2103120"/>
          </a:xfrm>
          <a:prstGeom prst="rtTriangle">
            <a:avLst/>
          </a:prstGeom>
          <a:solidFill>
            <a:srgbClr val="BC1A49"/>
          </a:solidFill>
          <a:ln w="12700">
            <a:solidFill>
              <a:srgbClr val="BC1A49"/>
            </a:solidFill>
            <a:prstDash val="solid"/>
          </a:ln>
        </p:spPr>
      </p:sp>
      <p:pic>
        <p:nvPicPr>
          <p:cNvPr id="6" name="Logo PST&amp;B" descr="/tmp/claude-0/-home-user-Portfolio/a3137db1-1f36-57d7-bb52-5d24dba6053c/scratchpad/build/assets/pstb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47472"/>
            <a:ext cx="1371600" cy="585216"/>
          </a:xfrm>
          <a:prstGeom prst="rect">
            <a:avLst/>
          </a:prstGeom>
        </p:spPr>
      </p:pic>
      <p:sp>
        <p:nvSpPr>
          <p:cNvPr id="7" name="Titre"/>
          <p:cNvSpPr txBox="1"/>
          <p:nvPr/>
        </p:nvSpPr>
        <p:spPr>
          <a:xfrm>
            <a:off x="457200" y="1188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ImmersIA</a:t>
            </a:r>
            <a:endParaRPr lang="en-US" sz="3800" dirty="0"/>
          </a:p>
        </p:txBody>
      </p:sp>
      <p:sp>
        <p:nvSpPr>
          <p:cNvPr id="8" name="Accroche"/>
          <p:cNvSpPr txBox="1"/>
          <p:nvPr/>
        </p:nvSpPr>
        <p:spPr>
          <a:xfrm>
            <a:off x="457200" y="184708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lab virtuel des apprentis Data &amp; IA : des cas métiers réels, un environnement prêt, un tuteur IA.</a:t>
            </a:r>
            <a:endParaRPr lang="en-US" sz="1150" dirty="0"/>
          </a:p>
        </p:txBody>
      </p:sp>
      <p:sp>
        <p:nvSpPr>
          <p:cNvPr id="9" name="Problème"/>
          <p:cNvSpPr txBox="1"/>
          <p:nvPr/>
        </p:nvSpPr>
        <p:spPr>
          <a:xfrm>
            <a:off x="457200" y="2606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étudiant arrive avec sa machine : les premiers TP se perdent à installer outils et packages, et l'enseignant dépanne au lieu d'enseigner.</a:t>
            </a:r>
            <a:endParaRPr lang="en-US" sz="1050" dirty="0"/>
          </a:p>
        </p:txBody>
      </p:sp>
      <p:sp>
        <p:nvSpPr>
          <p:cNvPr id="10" name="Stat 1 chiffre"/>
          <p:cNvSpPr txBox="1"/>
          <p:nvPr/>
        </p:nvSpPr>
        <p:spPr>
          <a:xfrm>
            <a:off x="457200" y="35204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à 60 min</a:t>
            </a:r>
            <a:endParaRPr lang="en-US" sz="3200" dirty="0"/>
          </a:p>
        </p:txBody>
      </p:sp>
      <p:sp>
        <p:nvSpPr>
          <p:cNvPr id="11" name="Stat 1 légende"/>
          <p:cNvSpPr txBox="1"/>
          <p:nvPr/>
        </p:nvSpPr>
        <p:spPr>
          <a:xfrm>
            <a:off x="457200" y="4041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chaque première séance passées à installer</a:t>
            </a:r>
            <a:endParaRPr lang="en-US" sz="950" dirty="0"/>
          </a:p>
        </p:txBody>
      </p:sp>
      <p:sp>
        <p:nvSpPr>
          <p:cNvPr id="12" name="Stat 2 chiffre"/>
          <p:cNvSpPr txBox="1"/>
          <p:nvPr/>
        </p:nvSpPr>
        <p:spPr>
          <a:xfrm>
            <a:off x="457200" y="44348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78 %</a:t>
            </a:r>
            <a:endParaRPr lang="en-US" sz="4000" dirty="0"/>
          </a:p>
        </p:txBody>
      </p:sp>
      <p:sp>
        <p:nvSpPr>
          <p:cNvPr id="13" name="Stat 2 légende"/>
          <p:cNvSpPr txBox="1"/>
          <p:nvPr/>
        </p:nvSpPr>
        <p:spPr>
          <a:xfrm>
            <a:off x="45720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étudiants citent matériel et configuration comme première source de frustration en TP</a:t>
            </a:r>
            <a:endParaRPr lang="en-US" sz="950" dirty="0"/>
          </a:p>
        </p:txBody>
      </p:sp>
      <p:pic>
        <p:nvPicPr>
          <p:cNvPr id="14" name="Logo OPCO Atlas — Inventer les CFA de demain" descr="/tmp/claude-0/-home-user-Portfolio/a3137db1-1f36-57d7-bb52-5d24dba6053c/scratchpad/build/assets/atlas-laur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06440"/>
            <a:ext cx="1234440" cy="740664"/>
          </a:xfrm>
          <a:prstGeom prst="rect">
            <a:avLst/>
          </a:prstGeom>
        </p:spPr>
      </p:pic>
      <p:sp>
        <p:nvSpPr>
          <p:cNvPr id="15" name="Mention partenaires"/>
          <p:cNvSpPr txBox="1"/>
          <p:nvPr/>
        </p:nvSpPr>
        <p:spPr>
          <a:xfrm>
            <a:off x="1828800" y="587044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Projet PST&amp;B, lauréat OPCO Atlas,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développé avec Galileo.</a:t>
            </a:r>
            <a:endParaRPr lang="en-US" sz="850" dirty="0"/>
          </a:p>
        </p:txBody>
      </p:sp>
      <p:sp>
        <p:nvSpPr>
          <p:cNvPr id="16" name="Label solution"/>
          <p:cNvSpPr txBox="1"/>
          <p:nvPr/>
        </p:nvSpPr>
        <p:spPr>
          <a:xfrm>
            <a:off x="5074920" y="384048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SOLUTION</a:t>
            </a:r>
            <a:endParaRPr lang="en-US" sz="900" dirty="0"/>
          </a:p>
        </p:txBody>
      </p:sp>
      <p:sp>
        <p:nvSpPr>
          <p:cNvPr id="17" name="Cercle Accès"/>
          <p:cNvSpPr/>
          <p:nvPr/>
        </p:nvSpPr>
        <p:spPr>
          <a:xfrm>
            <a:off x="5074920" y="749808"/>
            <a:ext cx="457200" cy="457200"/>
          </a:xfrm>
          <a:prstGeom prst="ellips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pic>
        <p:nvPicPr>
          <p:cNvPr id="18" name="Icône Accè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4" y="850392"/>
            <a:ext cx="256032" cy="256032"/>
          </a:xfrm>
          <a:prstGeom prst="rect">
            <a:avLst/>
          </a:prstGeom>
        </p:spPr>
      </p:pic>
      <p:sp>
        <p:nvSpPr>
          <p:cNvPr id="19" name="Titre Accès"/>
          <p:cNvSpPr txBox="1"/>
          <p:nvPr/>
        </p:nvSpPr>
        <p:spPr>
          <a:xfrm>
            <a:off x="5074920" y="13167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Accès</a:t>
            </a:r>
            <a:endParaRPr lang="en-US" sz="1300" dirty="0"/>
          </a:p>
        </p:txBody>
      </p:sp>
      <p:sp>
        <p:nvSpPr>
          <p:cNvPr id="20" name="Texte Accès"/>
          <p:cNvSpPr txBox="1"/>
          <p:nvPr/>
        </p:nvSpPr>
        <p:spPr>
          <a:xfrm>
            <a:off x="5074920" y="16459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Connexion avec le compte étudiant. L'environnement est prêt, en classe ou à distance.</a:t>
            </a:r>
            <a:endParaRPr lang="en-US" sz="1000" dirty="0"/>
          </a:p>
        </p:txBody>
      </p:sp>
      <p:sp>
        <p:nvSpPr>
          <p:cNvPr id="21" name="Cercle Scénarios &amp; labs"/>
          <p:cNvSpPr/>
          <p:nvPr/>
        </p:nvSpPr>
        <p:spPr>
          <a:xfrm>
            <a:off x="7406640" y="749808"/>
            <a:ext cx="457200" cy="457200"/>
          </a:xfrm>
          <a:prstGeom prst="ellips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pic>
        <p:nvPicPr>
          <p:cNvPr id="22" name="Icône Scénarios &amp; lab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850392"/>
            <a:ext cx="256032" cy="256032"/>
          </a:xfrm>
          <a:prstGeom prst="rect">
            <a:avLst/>
          </a:prstGeom>
        </p:spPr>
      </p:pic>
      <p:sp>
        <p:nvSpPr>
          <p:cNvPr id="23" name="Titre Scénarios &amp;amp; labs"/>
          <p:cNvSpPr txBox="1"/>
          <p:nvPr/>
        </p:nvSpPr>
        <p:spPr>
          <a:xfrm>
            <a:off x="7406640" y="13167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Scénarios &amp; labs</a:t>
            </a:r>
            <a:endParaRPr lang="en-US" sz="1300" dirty="0"/>
          </a:p>
        </p:txBody>
      </p:sp>
      <p:sp>
        <p:nvSpPr>
          <p:cNvPr id="24" name="Texte Scénarios &amp;amp; labs"/>
          <p:cNvSpPr txBox="1"/>
          <p:nvPr/>
        </p:nvSpPr>
        <p:spPr>
          <a:xfrm>
            <a:off x="7406640" y="16459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 banque, assurance, conseil. Tuteur IA, VS Code, notebooks et datasets prêts, mode sans code.</a:t>
            </a:r>
            <a:endParaRPr lang="en-US" sz="1000" dirty="0"/>
          </a:p>
        </p:txBody>
      </p:sp>
      <p:sp>
        <p:nvSpPr>
          <p:cNvPr id="25" name="Cercle Vue enseignant"/>
          <p:cNvSpPr/>
          <p:nvPr/>
        </p:nvSpPr>
        <p:spPr>
          <a:xfrm>
            <a:off x="9738360" y="749808"/>
            <a:ext cx="457200" cy="457200"/>
          </a:xfrm>
          <a:prstGeom prst="ellipse">
            <a:avLst/>
          </a:prstGeom>
          <a:solidFill>
            <a:srgbClr val="01A6E0"/>
          </a:solidFill>
          <a:ln w="12700">
            <a:solidFill>
              <a:srgbClr val="01A6E0"/>
            </a:solidFill>
            <a:prstDash val="solid"/>
          </a:ln>
        </p:spPr>
      </p:sp>
      <p:pic>
        <p:nvPicPr>
          <p:cNvPr id="26" name="Icône Vue enseignan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8944" y="850392"/>
            <a:ext cx="256032" cy="256032"/>
          </a:xfrm>
          <a:prstGeom prst="rect">
            <a:avLst/>
          </a:prstGeom>
        </p:spPr>
      </p:pic>
      <p:sp>
        <p:nvSpPr>
          <p:cNvPr id="27" name="Titre Vue enseignant"/>
          <p:cNvSpPr txBox="1"/>
          <p:nvPr/>
        </p:nvSpPr>
        <p:spPr>
          <a:xfrm>
            <a:off x="9738360" y="13167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enseignant</a:t>
            </a:r>
            <a:endParaRPr lang="en-US" sz="1300" dirty="0"/>
          </a:p>
        </p:txBody>
      </p:sp>
      <p:sp>
        <p:nvSpPr>
          <p:cNvPr id="28" name="Texte Vue enseignant"/>
          <p:cNvSpPr txBox="1"/>
          <p:nvPr/>
        </p:nvSpPr>
        <p:spPr>
          <a:xfrm>
            <a:off x="9738360" y="16459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LLM résume la séance, repère les difficultés et les concepts mal maîtrisés, suit chaque version soumise.</a:t>
            </a:r>
            <a:endParaRPr lang="en-US" sz="1000" dirty="0"/>
          </a:p>
        </p:txBody>
      </p:sp>
      <p:sp>
        <p:nvSpPr>
          <p:cNvPr id="29" name="Label feuille de route"/>
          <p:cNvSpPr txBox="1"/>
          <p:nvPr/>
        </p:nvSpPr>
        <p:spPr>
          <a:xfrm>
            <a:off x="5074920" y="2926080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FEUILLE DE ROUTE</a:t>
            </a:r>
            <a:endParaRPr lang="en-US" sz="900" dirty="0"/>
          </a:p>
        </p:txBody>
      </p:sp>
      <p:sp>
        <p:nvSpPr>
          <p:cNvPr id="30" name="Ligne de temps"/>
          <p:cNvSpPr/>
          <p:nvPr/>
        </p:nvSpPr>
        <p:spPr>
          <a:xfrm>
            <a:off x="5257800" y="3931920"/>
            <a:ext cx="6355080" cy="0"/>
          </a:xfrm>
          <a:prstGeom prst="line">
            <a:avLst/>
          </a:prstGeom>
          <a:noFill/>
          <a:ln w="25400">
            <a:solidFill>
              <a:srgbClr val="D9E2EC"/>
            </a:solidFill>
            <a:prstDash val="solid"/>
          </a:ln>
        </p:spPr>
      </p:sp>
      <p:sp>
        <p:nvSpPr>
          <p:cNvPr id="31" name="Jalon 1"/>
          <p:cNvSpPr/>
          <p:nvPr/>
        </p:nvSpPr>
        <p:spPr>
          <a:xfrm>
            <a:off x="5486400" y="3840480"/>
            <a:ext cx="182880" cy="182880"/>
          </a:xfrm>
          <a:prstGeom prst="ellipse">
            <a:avLst/>
          </a:prstGeom>
          <a:solidFill>
            <a:srgbClr val="01A6E0"/>
          </a:solidFill>
          <a:ln w="19050">
            <a:solidFill>
              <a:srgbClr val="01A6E0"/>
            </a:solidFill>
            <a:prstDash val="solid"/>
          </a:ln>
        </p:spPr>
      </p:sp>
      <p:sp>
        <p:nvSpPr>
          <p:cNvPr id="32" name="Date jalon 1"/>
          <p:cNvSpPr txBox="1"/>
          <p:nvPr/>
        </p:nvSpPr>
        <p:spPr>
          <a:xfrm>
            <a:off x="489204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Sept. 2026</a:t>
            </a:r>
            <a:endParaRPr lang="en-US" sz="1000" dirty="0"/>
          </a:p>
        </p:txBody>
      </p:sp>
      <p:sp>
        <p:nvSpPr>
          <p:cNvPr id="33" name="Texte jalon 1"/>
          <p:cNvSpPr txBox="1"/>
          <p:nvPr/>
        </p:nvSpPr>
        <p:spPr>
          <a:xfrm>
            <a:off x="4892040" y="4187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Kick-off, deux scénarios choisis</a:t>
            </a:r>
            <a:endParaRPr lang="en-US" sz="850" dirty="0"/>
          </a:p>
        </p:txBody>
      </p:sp>
      <p:sp>
        <p:nvSpPr>
          <p:cNvPr id="34" name="Jalon 2"/>
          <p:cNvSpPr/>
          <p:nvPr/>
        </p:nvSpPr>
        <p:spPr>
          <a:xfrm>
            <a:off x="6869430" y="3794760"/>
            <a:ext cx="274320" cy="274320"/>
          </a:xfrm>
          <a:prstGeom prst="ellipse">
            <a:avLst/>
          </a:prstGeom>
          <a:solidFill>
            <a:srgbClr val="BC1A49"/>
          </a:solidFill>
          <a:ln w="19050">
            <a:solidFill>
              <a:srgbClr val="BC1A49"/>
            </a:solidFill>
            <a:prstDash val="solid"/>
          </a:ln>
        </p:spPr>
      </p:sp>
      <p:sp>
        <p:nvSpPr>
          <p:cNvPr id="35" name="Date jalon 2"/>
          <p:cNvSpPr txBox="1"/>
          <p:nvPr/>
        </p:nvSpPr>
        <p:spPr>
          <a:xfrm>
            <a:off x="632079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1A4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 nov. 2026</a:t>
            </a:r>
            <a:endParaRPr lang="en-US" sz="1100" dirty="0"/>
          </a:p>
        </p:txBody>
      </p:sp>
      <p:sp>
        <p:nvSpPr>
          <p:cNvPr id="36" name="Texte jalon 2"/>
          <p:cNvSpPr txBox="1"/>
          <p:nvPr/>
        </p:nvSpPr>
        <p:spPr>
          <a:xfrm>
            <a:off x="6320790" y="4187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Bêta (MVP) en classe : fraude, scoring crédit</a:t>
            </a:r>
            <a:endParaRPr lang="en-US" sz="850" dirty="0"/>
          </a:p>
        </p:txBody>
      </p:sp>
      <p:sp>
        <p:nvSpPr>
          <p:cNvPr id="37" name="Jalon 3"/>
          <p:cNvSpPr/>
          <p:nvPr/>
        </p:nvSpPr>
        <p:spPr>
          <a:xfrm>
            <a:off x="8343900" y="38404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1A6E0"/>
            </a:solidFill>
            <a:prstDash val="solid"/>
          </a:ln>
        </p:spPr>
      </p:sp>
      <p:sp>
        <p:nvSpPr>
          <p:cNvPr id="38" name="Date jalon 3"/>
          <p:cNvSpPr txBox="1"/>
          <p:nvPr/>
        </p:nvSpPr>
        <p:spPr>
          <a:xfrm>
            <a:off x="774954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Fév. 2027</a:t>
            </a:r>
            <a:endParaRPr lang="en-US" sz="1000" dirty="0"/>
          </a:p>
        </p:txBody>
      </p:sp>
      <p:sp>
        <p:nvSpPr>
          <p:cNvPr id="39" name="Texte jalon 3"/>
          <p:cNvSpPr txBox="1"/>
          <p:nvPr/>
        </p:nvSpPr>
        <p:spPr>
          <a:xfrm>
            <a:off x="7749540" y="4187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Pilote élargi, ≥ 25 apprentis Atlas</a:t>
            </a:r>
            <a:endParaRPr lang="en-US" sz="850" dirty="0"/>
          </a:p>
        </p:txBody>
      </p:sp>
      <p:sp>
        <p:nvSpPr>
          <p:cNvPr id="40" name="Jalon 4"/>
          <p:cNvSpPr/>
          <p:nvPr/>
        </p:nvSpPr>
        <p:spPr>
          <a:xfrm>
            <a:off x="9772650" y="38404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1A6E0"/>
            </a:solidFill>
            <a:prstDash val="solid"/>
          </a:ln>
        </p:spPr>
      </p:sp>
      <p:sp>
        <p:nvSpPr>
          <p:cNvPr id="41" name="Date jalon 4"/>
          <p:cNvSpPr txBox="1"/>
          <p:nvPr/>
        </p:nvSpPr>
        <p:spPr>
          <a:xfrm>
            <a:off x="917829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Juin 2027</a:t>
            </a:r>
            <a:endParaRPr lang="en-US" sz="1000" dirty="0"/>
          </a:p>
        </p:txBody>
      </p:sp>
      <p:sp>
        <p:nvSpPr>
          <p:cNvPr id="42" name="Texte jalon 4"/>
          <p:cNvSpPr txBox="1"/>
          <p:nvPr/>
        </p:nvSpPr>
        <p:spPr>
          <a:xfrm>
            <a:off x="9178290" y="4187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Point mi-parcours Atlas, retours tuteurs</a:t>
            </a:r>
            <a:endParaRPr lang="en-US" sz="850" dirty="0"/>
          </a:p>
        </p:txBody>
      </p:sp>
      <p:sp>
        <p:nvSpPr>
          <p:cNvPr id="43" name="Jalon 5"/>
          <p:cNvSpPr/>
          <p:nvPr/>
        </p:nvSpPr>
        <p:spPr>
          <a:xfrm>
            <a:off x="11201400" y="38404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1A6E0"/>
            </a:solidFill>
            <a:prstDash val="solid"/>
          </a:ln>
        </p:spPr>
      </p:sp>
      <p:sp>
        <p:nvSpPr>
          <p:cNvPr id="44" name="Date jalon 5"/>
          <p:cNvSpPr txBox="1"/>
          <p:nvPr/>
        </p:nvSpPr>
        <p:spPr>
          <a:xfrm>
            <a:off x="10607040" y="3364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25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Oct. 2027</a:t>
            </a:r>
            <a:endParaRPr lang="en-US" sz="1000" dirty="0"/>
          </a:p>
        </p:txBody>
      </p:sp>
      <p:sp>
        <p:nvSpPr>
          <p:cNvPr id="45" name="Texte jalon 5"/>
          <p:cNvSpPr txBox="1"/>
          <p:nvPr/>
        </p:nvSpPr>
        <p:spPr>
          <a:xfrm>
            <a:off x="10607040" y="41879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 : 50 puis 100 apprentis</a:t>
            </a:r>
            <a:endParaRPr lang="en-US" sz="850" dirty="0"/>
          </a:p>
        </p:txBody>
      </p:sp>
      <p:sp>
        <p:nvSpPr>
          <p:cNvPr id="46" name="Label cibles"/>
          <p:cNvSpPr txBox="1"/>
          <p:nvPr/>
        </p:nvSpPr>
        <p:spPr>
          <a:xfrm>
            <a:off x="5074920" y="4892040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CIBLES DU MVP  ·  NOV. 2026 → JANV. 2027</a:t>
            </a:r>
            <a:endParaRPr lang="en-US" sz="900" dirty="0"/>
          </a:p>
        </p:txBody>
      </p:sp>
      <p:sp>
        <p:nvSpPr>
          <p:cNvPr id="47" name="Cible 1"/>
          <p:cNvSpPr txBox="1"/>
          <p:nvPr/>
        </p:nvSpPr>
        <p:spPr>
          <a:xfrm>
            <a:off x="5074920" y="52120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400" dirty="0"/>
          </a:p>
        </p:txBody>
      </p:sp>
      <p:sp>
        <p:nvSpPr>
          <p:cNvPr id="48" name="Cible libellé 1"/>
          <p:cNvSpPr txBox="1"/>
          <p:nvPr/>
        </p:nvSpPr>
        <p:spPr>
          <a:xfrm>
            <a:off x="5074920" y="568756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la classe pilote connectée dès la première séance</a:t>
            </a:r>
            <a:endParaRPr lang="en-US" sz="900" dirty="0"/>
          </a:p>
        </p:txBody>
      </p:sp>
      <p:sp>
        <p:nvSpPr>
          <p:cNvPr id="49" name="Cible 2"/>
          <p:cNvSpPr txBox="1"/>
          <p:nvPr/>
        </p:nvSpPr>
        <p:spPr>
          <a:xfrm>
            <a:off x="6772656" y="52120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2+ / sem.</a:t>
            </a:r>
            <a:endParaRPr lang="en-US" sz="2400" dirty="0"/>
          </a:p>
        </p:txBody>
      </p:sp>
      <p:sp>
        <p:nvSpPr>
          <p:cNvPr id="50" name="Cible libellé 2"/>
          <p:cNvSpPr txBox="1"/>
          <p:nvPr/>
        </p:nvSpPr>
        <p:spPr>
          <a:xfrm>
            <a:off x="6772656" y="568756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sessions par apprenti, en classe et en autonomie</a:t>
            </a:r>
            <a:endParaRPr lang="en-US" sz="900" dirty="0"/>
          </a:p>
        </p:txBody>
      </p:sp>
      <p:sp>
        <p:nvSpPr>
          <p:cNvPr id="51" name="Cible 3"/>
          <p:cNvSpPr txBox="1"/>
          <p:nvPr/>
        </p:nvSpPr>
        <p:spPr>
          <a:xfrm>
            <a:off x="8470392" y="52120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≥ 80 %</a:t>
            </a:r>
            <a:endParaRPr lang="en-US" sz="2400" dirty="0"/>
          </a:p>
        </p:txBody>
      </p:sp>
      <p:sp>
        <p:nvSpPr>
          <p:cNvPr id="52" name="Cible libellé 3"/>
          <p:cNvSpPr txBox="1"/>
          <p:nvPr/>
        </p:nvSpPr>
        <p:spPr>
          <a:xfrm>
            <a:off x="8470392" y="568756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deux scénarios terminés et soumis</a:t>
            </a:r>
            <a:endParaRPr lang="en-US" sz="900" dirty="0"/>
          </a:p>
        </p:txBody>
      </p:sp>
      <p:sp>
        <p:nvSpPr>
          <p:cNvPr id="53" name="Cible 4"/>
          <p:cNvSpPr txBox="1"/>
          <p:nvPr/>
        </p:nvSpPr>
        <p:spPr>
          <a:xfrm>
            <a:off x="10168128" y="521208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1A6E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 1 min</a:t>
            </a:r>
            <a:endParaRPr lang="en-US" sz="2400" dirty="0"/>
          </a:p>
        </p:txBody>
      </p:sp>
      <p:sp>
        <p:nvSpPr>
          <p:cNvPr id="54" name="Cible libellé 4"/>
          <p:cNvSpPr txBox="1"/>
          <p:nvPr/>
        </p:nvSpPr>
        <p:spPr>
          <a:xfrm>
            <a:off x="10168128" y="5687568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feedback du tuteur IA, concordant avec l'enseignant</a:t>
            </a:r>
            <a:endParaRPr lang="en-US" sz="900" dirty="0"/>
          </a:p>
        </p:txBody>
      </p:sp>
      <p:sp>
        <p:nvSpPr>
          <p:cNvPr id="55" name="Sources"/>
          <p:cNvSpPr txBox="1"/>
          <p:nvPr/>
        </p:nvSpPr>
        <p:spPr>
          <a:xfrm>
            <a:off x="5074920" y="6382512"/>
            <a:ext cx="6720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94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 : Software Carpentry, Tips for Instructors (30 à 60 min) · ASEE, Student Frustration in Introductory Laboratory Experiences (78 %) · Cibles : proposition à valider.</a:t>
            </a:r>
            <a:endParaRPr lang="en-US" sz="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4" dur="5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500"/>
                            </p:stCondLst>
                            <p:childTnLst>
                              <p:par>
                                <p:cTn id="107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>
                                      <p:cBhvr>
                                        <p:cTn id="109" dur="500" fill="hold"/>
                                        <p:tgtEl>
                                          <p:spTgt spid="12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</p:bldLst>
  </p:timing>
</p:sld>
</file>

<file path=ppt/theme/theme1.xml><?xml version="1.0" encoding="utf-8"?>
<a:theme xmlns:a="http://schemas.openxmlformats.org/drawingml/2006/main" name="PST&amp;B ImmersIA">
  <a:themeElements>
    <a:clrScheme name="PST&amp;B ImmersIA">
      <a:dk1>
        <a:srgbClr val="152539"/>
      </a:dk1>
      <a:lt1>
        <a:srgbClr val="FFFFFF"/>
      </a:lt1>
      <a:dk2>
        <a:srgbClr val="475569"/>
      </a:dk2>
      <a:lt2>
        <a:srgbClr val="F3F6FA"/>
      </a:lt2>
      <a:accent1>
        <a:srgbClr val="01A6E0"/>
      </a:accent1>
      <a:accent2>
        <a:srgbClr val="BC1A49"/>
      </a:accent2>
      <a:accent3>
        <a:srgbClr val="522582"/>
      </a:accent3>
      <a:accent4>
        <a:srgbClr val="0078BF"/>
      </a:accent4>
      <a:accent5>
        <a:srgbClr val="C97A00"/>
      </a:accent5>
      <a:accent6>
        <a:srgbClr val="8A94A6"/>
      </a:accent6>
      <a:hlink>
        <a:srgbClr val="01A6E0"/>
      </a:hlink>
      <a:folHlink>
        <a:srgbClr val="522582"/>
      </a:folHlink>
    </a:clrScheme>
    <a:fontScheme name="PST&amp;B ImmersIA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ImmersIA — commission d'ingénierie pédagogique</dc:title>
  <dc:subject>PptxGenJS Presentation</dc:subject>
  <dc:creator>PST&amp;B</dc:creator>
  <cp:lastModifiedBy>PST&amp;B</cp:lastModifiedBy>
  <cp:revision>1</cp:revision>
  <dcterms:created xsi:type="dcterms:W3CDTF">2026-10-07T11:35:54Z</dcterms:created>
  <dcterms:modified xsi:type="dcterms:W3CDTF">2026-10-07T11:35:54Z</dcterms:modified>
</cp:coreProperties>
</file>