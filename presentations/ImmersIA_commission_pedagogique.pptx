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ImmersIA en une slide : problème (hétérogénéité des machines, temps de TP perdu en installation), solution en trois briques (accès, scénarios &amp; labs avec IA checker, vue enseignant via notre LLM), feuille de route jusqu'au déploiement, et cibles KPI du MVP. Les deux chiffres s'affichent au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11480" y="2011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lab virtuel immersif des apprentis Data &amp; IA</a:t>
            </a:r>
            <a:endParaRPr lang="en-US" sz="3000" dirty="0"/>
          </a:p>
        </p:txBody>
      </p:sp>
      <p:sp>
        <p:nvSpPr>
          <p:cNvPr id="3" name="Sous-titre"/>
          <p:cNvSpPr txBox="1"/>
          <p:nvPr/>
        </p:nvSpPr>
        <p:spPr>
          <a:xfrm>
            <a:off x="41148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scénarios métiers réalistes (banque, assurance, conseil) dans un environnement prêt à l'emploi, avec un tuteur IA pour l'apprenti et une vue de suivi pour l'enseignant. Projet PST&amp;B, lauréat OPCO Atlas « Inventer les CFA de demain », développé avec Galileo.</a:t>
            </a:r>
            <a:endParaRPr lang="en-US" sz="1050" dirty="0"/>
          </a:p>
        </p:txBody>
      </p:sp>
      <p:pic>
        <p:nvPicPr>
          <p:cNvPr id="4" name="Logo PST&amp;B" descr="/tmp/claude-0/-home-user-Portfolio/a3137db1-1f36-57d7-bb52-5d24dba6053c/scratchpad/build/assets/pstb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74320"/>
            <a:ext cx="1325880" cy="566928"/>
          </a:xfrm>
          <a:prstGeom prst="rect">
            <a:avLst/>
          </a:prstGeom>
        </p:spPr>
      </p:pic>
      <p:pic>
        <p:nvPicPr>
          <p:cNvPr id="5" name="Logo OPCO Atlas — Inventer les CFA de demain" descr="/tmp/claude-0/-home-user-Portfolio/a3137db1-1f36-57d7-bb52-5d24dba6053c/scratchpad/build/assets/atlas-laur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216152" cy="731520"/>
          </a:xfrm>
          <a:prstGeom prst="rect">
            <a:avLst/>
          </a:prstGeom>
        </p:spPr>
      </p:pic>
      <p:sp>
        <p:nvSpPr>
          <p:cNvPr id="6" name="Carte problème"/>
          <p:cNvSpPr/>
          <p:nvPr/>
        </p:nvSpPr>
        <p:spPr>
          <a:xfrm>
            <a:off x="411480" y="1188720"/>
            <a:ext cx="3794760" cy="2487168"/>
          </a:xfrm>
          <a:prstGeom prst="roundRect">
            <a:avLst>
              <a:gd name="adj" fmla="val 2941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pic>
        <p:nvPicPr>
          <p:cNvPr id="7" name="Icône aler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35024"/>
            <a:ext cx="219456" cy="219456"/>
          </a:xfrm>
          <a:prstGeom prst="rect">
            <a:avLst/>
          </a:prstGeom>
        </p:spPr>
      </p:pic>
      <p:sp>
        <p:nvSpPr>
          <p:cNvPr id="8" name="Label problème"/>
          <p:cNvSpPr txBox="1"/>
          <p:nvPr/>
        </p:nvSpPr>
        <p:spPr>
          <a:xfrm>
            <a:off x="868680" y="1316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C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QUE NOUS RÉSOLVONS</a:t>
            </a:r>
            <a:endParaRPr lang="en-US" sz="950" dirty="0"/>
          </a:p>
        </p:txBody>
      </p:sp>
      <p:sp>
        <p:nvSpPr>
          <p:cNvPr id="9" name="Phrase motivation"/>
          <p:cNvSpPr txBox="1"/>
          <p:nvPr/>
        </p:nvSpPr>
        <p:spPr>
          <a:xfrm>
            <a:off x="576072" y="1609344"/>
            <a:ext cx="3465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étudiant arrive avec sa machine et ses installations : </a:t>
            </a:r>
            <a:pPr indent="0" marL="0">
              <a:buNone/>
            </a:pPr>
            <a:r>
              <a:rPr lang="en-US" sz="105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premiers TP se perdent à configurer outils et packages au lieu d'apprendre, </a:t>
            </a:r>
            <a:pPr indent="0" marL="0">
              <a:buNone/>
            </a:pPr>
            <a:r>
              <a:rPr lang="en-US" sz="1050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l'enseignant dépanne au lieu d'enseigner. ImmersIA supprime cette étape : l'environnement est prêt avant le premier notebook.</a:t>
            </a:r>
            <a:endParaRPr lang="en-US" sz="1050" dirty="0"/>
          </a:p>
        </p:txBody>
      </p:sp>
      <p:sp>
        <p:nvSpPr>
          <p:cNvPr id="10" name="Stat 1 fond"/>
          <p:cNvSpPr/>
          <p:nvPr/>
        </p:nvSpPr>
        <p:spPr>
          <a:xfrm>
            <a:off x="576072" y="2560320"/>
            <a:ext cx="16596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tat 1 chiffre"/>
          <p:cNvSpPr txBox="1"/>
          <p:nvPr/>
        </p:nvSpPr>
        <p:spPr>
          <a:xfrm>
            <a:off x="649224" y="2596896"/>
            <a:ext cx="15133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2400" dirty="0"/>
          </a:p>
        </p:txBody>
      </p:sp>
      <p:sp>
        <p:nvSpPr>
          <p:cNvPr id="12" name="Stat 1 légende"/>
          <p:cNvSpPr txBox="1"/>
          <p:nvPr/>
        </p:nvSpPr>
        <p:spPr>
          <a:xfrm>
            <a:off x="649224" y="2990088"/>
            <a:ext cx="1513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chaque première séance consacrées à l'installation des outils</a:t>
            </a:r>
            <a:endParaRPr lang="en-US" sz="800" dirty="0"/>
          </a:p>
        </p:txBody>
      </p:sp>
      <p:sp>
        <p:nvSpPr>
          <p:cNvPr id="13" name="Stat 2 fond"/>
          <p:cNvSpPr/>
          <p:nvPr/>
        </p:nvSpPr>
        <p:spPr>
          <a:xfrm>
            <a:off x="2382012" y="2560320"/>
            <a:ext cx="16596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tat 2 chiffre"/>
          <p:cNvSpPr txBox="1"/>
          <p:nvPr/>
        </p:nvSpPr>
        <p:spPr>
          <a:xfrm>
            <a:off x="2455164" y="2596896"/>
            <a:ext cx="15133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000" dirty="0"/>
          </a:p>
        </p:txBody>
      </p:sp>
      <p:sp>
        <p:nvSpPr>
          <p:cNvPr id="15" name="Stat 2 légende"/>
          <p:cNvSpPr txBox="1"/>
          <p:nvPr/>
        </p:nvSpPr>
        <p:spPr>
          <a:xfrm>
            <a:off x="2455164" y="2990088"/>
            <a:ext cx="1513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étudiants citent matériel et configuration comme première source de frustration en TP</a:t>
            </a:r>
            <a:endParaRPr lang="en-US" sz="800" dirty="0"/>
          </a:p>
        </p:txBody>
      </p:sp>
      <p:sp>
        <p:nvSpPr>
          <p:cNvPr id="16" name="Carte solution"/>
          <p:cNvSpPr/>
          <p:nvPr/>
        </p:nvSpPr>
        <p:spPr>
          <a:xfrm>
            <a:off x="4389120" y="1188720"/>
            <a:ext cx="738835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cône cib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335024"/>
            <a:ext cx="219456" cy="219456"/>
          </a:xfrm>
          <a:prstGeom prst="rect">
            <a:avLst/>
          </a:prstGeom>
        </p:spPr>
      </p:pic>
      <p:sp>
        <p:nvSpPr>
          <p:cNvPr id="18" name="Label solution"/>
          <p:cNvSpPr txBox="1"/>
          <p:nvPr/>
        </p:nvSpPr>
        <p:spPr>
          <a:xfrm>
            <a:off x="4846320" y="1316736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IMMERSIA — TROIS BRIQUES</a:t>
            </a:r>
            <a:endParaRPr lang="en-US" sz="950" dirty="0"/>
          </a:p>
        </p:txBody>
      </p:sp>
      <p:sp>
        <p:nvSpPr>
          <p:cNvPr id="19" name="Bloc Connexion &amp; accès"/>
          <p:cNvSpPr/>
          <p:nvPr/>
        </p:nvSpPr>
        <p:spPr>
          <a:xfrm>
            <a:off x="4553712" y="1645920"/>
            <a:ext cx="2157984" cy="1883664"/>
          </a:xfrm>
          <a:prstGeom prst="roundRect">
            <a:avLst>
              <a:gd name="adj" fmla="val 291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Cercle Connexion &amp; accès"/>
          <p:cNvSpPr/>
          <p:nvPr/>
        </p:nvSpPr>
        <p:spPr>
          <a:xfrm>
            <a:off x="4681728" y="1764792"/>
            <a:ext cx="365760" cy="365760"/>
          </a:xfrm>
          <a:prstGeom prst="ellipse">
            <a:avLst/>
          </a:prstGeom>
          <a:solidFill>
            <a:srgbClr val="0076C2"/>
          </a:solidFill>
          <a:ln w="12700">
            <a:solidFill>
              <a:srgbClr val="0076C2"/>
            </a:solidFill>
            <a:prstDash val="solid"/>
          </a:ln>
        </p:spPr>
      </p:sp>
      <p:pic>
        <p:nvPicPr>
          <p:cNvPr id="21" name="Icône Connexion &amp; accè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37944"/>
            <a:ext cx="219456" cy="219456"/>
          </a:xfrm>
          <a:prstGeom prst="rect">
            <a:avLst/>
          </a:prstGeom>
        </p:spPr>
      </p:pic>
      <p:sp>
        <p:nvSpPr>
          <p:cNvPr id="22" name="Titre Connexion &amp;amp; accès"/>
          <p:cNvSpPr txBox="1"/>
          <p:nvPr/>
        </p:nvSpPr>
        <p:spPr>
          <a:xfrm>
            <a:off x="5138928" y="1764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&amp; accès</a:t>
            </a:r>
            <a:endParaRPr lang="en-US" sz="1250" dirty="0"/>
          </a:p>
        </p:txBody>
      </p:sp>
      <p:sp>
        <p:nvSpPr>
          <p:cNvPr id="23" name="Liste Connexion &amp; accès"/>
          <p:cNvSpPr txBox="1"/>
          <p:nvPr/>
        </p:nvSpPr>
        <p:spPr>
          <a:xfrm>
            <a:off x="4663440" y="221284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étudiants PST&amp;B, connexion unique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préconfigurés, accessibles à distance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Groupes, droits, quotas, arrêt automatique</a:t>
            </a:r>
            <a:endParaRPr lang="en-US" sz="950" dirty="0"/>
          </a:p>
        </p:txBody>
      </p:sp>
      <p:sp>
        <p:nvSpPr>
          <p:cNvPr id="24" name="Chevron 1"/>
          <p:cNvSpPr/>
          <p:nvPr/>
        </p:nvSpPr>
        <p:spPr>
          <a:xfrm>
            <a:off x="6775704" y="2459736"/>
            <a:ext cx="164592" cy="256032"/>
          </a:xfrm>
          <a:prstGeom prst="chevron">
            <a:avLst/>
          </a:prstGeom>
          <a:solidFill>
            <a:srgbClr val="3D85C6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25" name="Bloc Scénarios &amp; labs"/>
          <p:cNvSpPr/>
          <p:nvPr/>
        </p:nvSpPr>
        <p:spPr>
          <a:xfrm>
            <a:off x="7004304" y="1645920"/>
            <a:ext cx="2157984" cy="1883664"/>
          </a:xfrm>
          <a:prstGeom prst="roundRect">
            <a:avLst>
              <a:gd name="adj" fmla="val 291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6" name="Cercle Scénarios &amp; labs"/>
          <p:cNvSpPr/>
          <p:nvPr/>
        </p:nvSpPr>
        <p:spPr>
          <a:xfrm>
            <a:off x="7132320" y="1764792"/>
            <a:ext cx="365760" cy="365760"/>
          </a:xfrm>
          <a:prstGeom prst="ellipse">
            <a:avLst/>
          </a:prstGeom>
          <a:solidFill>
            <a:srgbClr val="522583"/>
          </a:solidFill>
          <a:ln w="12700">
            <a:solidFill>
              <a:srgbClr val="522583"/>
            </a:solidFill>
            <a:prstDash val="solid"/>
          </a:ln>
        </p:spPr>
      </p:sp>
      <p:pic>
        <p:nvPicPr>
          <p:cNvPr id="27" name="Icône Scénarios &amp; lab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1837944"/>
            <a:ext cx="219456" cy="219456"/>
          </a:xfrm>
          <a:prstGeom prst="rect">
            <a:avLst/>
          </a:prstGeom>
        </p:spPr>
      </p:pic>
      <p:sp>
        <p:nvSpPr>
          <p:cNvPr id="28" name="Titre Scénarios &amp;amp; labs"/>
          <p:cNvSpPr txBox="1"/>
          <p:nvPr/>
        </p:nvSpPr>
        <p:spPr>
          <a:xfrm>
            <a:off x="7589520" y="1764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&amp; labs</a:t>
            </a:r>
            <a:endParaRPr lang="en-US" sz="1250" dirty="0"/>
          </a:p>
        </p:txBody>
      </p:sp>
      <p:sp>
        <p:nvSpPr>
          <p:cNvPr id="29" name="Liste Scénarios &amp; labs"/>
          <p:cNvSpPr txBox="1"/>
          <p:nvPr/>
        </p:nvSpPr>
        <p:spPr>
          <a:xfrm>
            <a:off x="7114032" y="221284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métiers : fraude bancaire, scoring crédit, assurance…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checker : feedback formatif en moins d'une minute, jamais une note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VS Code, notebooks et datasets prêts à l'emploi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no-code pour les non-développeurs</a:t>
            </a:r>
            <a:endParaRPr lang="en-US" sz="950" dirty="0"/>
          </a:p>
        </p:txBody>
      </p:sp>
      <p:sp>
        <p:nvSpPr>
          <p:cNvPr id="30" name="Chevron 2"/>
          <p:cNvSpPr/>
          <p:nvPr/>
        </p:nvSpPr>
        <p:spPr>
          <a:xfrm>
            <a:off x="9226296" y="2459736"/>
            <a:ext cx="164592" cy="256032"/>
          </a:xfrm>
          <a:prstGeom prst="chevron">
            <a:avLst/>
          </a:prstGeom>
          <a:solidFill>
            <a:srgbClr val="3D85C6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31" name="Bloc Vue enseignant"/>
          <p:cNvSpPr/>
          <p:nvPr/>
        </p:nvSpPr>
        <p:spPr>
          <a:xfrm>
            <a:off x="9454896" y="1645920"/>
            <a:ext cx="2157984" cy="1883664"/>
          </a:xfrm>
          <a:prstGeom prst="roundRect">
            <a:avLst>
              <a:gd name="adj" fmla="val 291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2" name="Cercle Vue enseignant"/>
          <p:cNvSpPr/>
          <p:nvPr/>
        </p:nvSpPr>
        <p:spPr>
          <a:xfrm>
            <a:off x="9582912" y="1764792"/>
            <a:ext cx="365760" cy="365760"/>
          </a:xfrm>
          <a:prstGeom prst="ellipse">
            <a:avLst/>
          </a:prstGeom>
          <a:solidFill>
            <a:srgbClr val="BC1B49"/>
          </a:solidFill>
          <a:ln w="12700">
            <a:solidFill>
              <a:srgbClr val="BC1B49"/>
            </a:solidFill>
            <a:prstDash val="solid"/>
          </a:ln>
        </p:spPr>
      </p:sp>
      <p:pic>
        <p:nvPicPr>
          <p:cNvPr id="33" name="Icône Vue enseignan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1837944"/>
            <a:ext cx="219456" cy="219456"/>
          </a:xfrm>
          <a:prstGeom prst="rect">
            <a:avLst/>
          </a:prstGeom>
        </p:spPr>
      </p:pic>
      <p:sp>
        <p:nvSpPr>
          <p:cNvPr id="34" name="Titre Vue enseignant"/>
          <p:cNvSpPr txBox="1"/>
          <p:nvPr/>
        </p:nvSpPr>
        <p:spPr>
          <a:xfrm>
            <a:off x="10040112" y="17647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enseignant</a:t>
            </a:r>
            <a:endParaRPr lang="en-US" sz="1250" dirty="0"/>
          </a:p>
        </p:txBody>
      </p:sp>
      <p:sp>
        <p:nvSpPr>
          <p:cNvPr id="35" name="Liste Vue enseignant"/>
          <p:cNvSpPr txBox="1"/>
          <p:nvPr/>
        </p:nvSpPr>
        <p:spPr>
          <a:xfrm>
            <a:off x="9564624" y="221284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par notre LLM de la séance et des parcours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concepts les moins maîtrisés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versions de chaque soumission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d'usage et tableaux de bord</a:t>
            </a:r>
            <a:endParaRPr lang="en-US" sz="950" dirty="0"/>
          </a:p>
        </p:txBody>
      </p:sp>
      <p:pic>
        <p:nvPicPr>
          <p:cNvPr id="36" name="Icône feuille de rout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858768"/>
            <a:ext cx="201168" cy="201168"/>
          </a:xfrm>
          <a:prstGeom prst="rect">
            <a:avLst/>
          </a:prstGeom>
        </p:spPr>
      </p:pic>
      <p:sp>
        <p:nvSpPr>
          <p:cNvPr id="37" name="Label feuille de route"/>
          <p:cNvSpPr txBox="1"/>
          <p:nvPr/>
        </p:nvSpPr>
        <p:spPr>
          <a:xfrm>
            <a:off x="685800" y="3840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— DE LA BÊTA (MVP) AU DÉPLOIEMENT</a:t>
            </a:r>
            <a:endParaRPr lang="en-US" sz="950" dirty="0"/>
          </a:p>
        </p:txBody>
      </p:sp>
      <p:sp>
        <p:nvSpPr>
          <p:cNvPr id="38" name="Ligne de temps"/>
          <p:cNvSpPr/>
          <p:nvPr/>
        </p:nvSpPr>
        <p:spPr>
          <a:xfrm>
            <a:off x="822960" y="4773168"/>
            <a:ext cx="10515600" cy="0"/>
          </a:xfrm>
          <a:prstGeom prst="line">
            <a:avLst/>
          </a:prstGeom>
          <a:noFill/>
          <a:ln w="31750">
            <a:solidFill>
              <a:srgbClr val="E2E8F0"/>
            </a:solidFill>
            <a:prstDash val="solid"/>
          </a:ln>
        </p:spPr>
      </p:sp>
      <p:sp>
        <p:nvSpPr>
          <p:cNvPr id="39" name="Tick 1"/>
          <p:cNvSpPr/>
          <p:nvPr/>
        </p:nvSpPr>
        <p:spPr>
          <a:xfrm>
            <a:off x="1188720" y="44805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Jalon 1"/>
          <p:cNvSpPr/>
          <p:nvPr/>
        </p:nvSpPr>
        <p:spPr>
          <a:xfrm>
            <a:off x="1088136" y="4672584"/>
            <a:ext cx="201168" cy="201168"/>
          </a:xfrm>
          <a:prstGeom prst="ellipse">
            <a:avLst/>
          </a:prstGeom>
          <a:solidFill>
            <a:srgbClr val="0076C2"/>
          </a:solidFill>
          <a:ln w="19050">
            <a:solidFill>
              <a:srgbClr val="0076C2"/>
            </a:solidFill>
            <a:prstDash val="solid"/>
          </a:ln>
        </p:spPr>
      </p:sp>
      <p:sp>
        <p:nvSpPr>
          <p:cNvPr id="41" name="Texte jalon 1"/>
          <p:cNvSpPr txBox="1"/>
          <p:nvPr/>
        </p:nvSpPr>
        <p:spPr>
          <a:xfrm>
            <a:off x="374904" y="389534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2026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: équipe, cadrage, deux scénarios priorisés</a:t>
            </a:r>
            <a:endParaRPr lang="en-US" sz="1000" dirty="0"/>
          </a:p>
        </p:txBody>
      </p:sp>
      <p:sp>
        <p:nvSpPr>
          <p:cNvPr id="42" name="Tick 2"/>
          <p:cNvSpPr/>
          <p:nvPr/>
        </p:nvSpPr>
        <p:spPr>
          <a:xfrm>
            <a:off x="2819400" y="4773168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Jalon 2"/>
          <p:cNvSpPr/>
          <p:nvPr/>
        </p:nvSpPr>
        <p:spPr>
          <a:xfrm>
            <a:off x="2718816" y="4672584"/>
            <a:ext cx="201168" cy="201168"/>
          </a:xfrm>
          <a:prstGeom prst="ellipse">
            <a:avLst/>
          </a:prstGeom>
          <a:solidFill>
            <a:srgbClr val="3D85C6"/>
          </a:solidFill>
          <a:ln w="19050">
            <a:solidFill>
              <a:srgbClr val="3D85C6"/>
            </a:solidFill>
            <a:prstDash val="solid"/>
          </a:ln>
        </p:spPr>
      </p:sp>
      <p:sp>
        <p:nvSpPr>
          <p:cNvPr id="44" name="Texte jalon 2"/>
          <p:cNvSpPr txBox="1"/>
          <p:nvPr/>
        </p:nvSpPr>
        <p:spPr>
          <a:xfrm>
            <a:off x="2005584" y="51023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2026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dev, prototype d'intention validé avec l'équipe pédagogique</a:t>
            </a:r>
            <a:endParaRPr lang="en-US" sz="1000" dirty="0"/>
          </a:p>
        </p:txBody>
      </p:sp>
      <p:sp>
        <p:nvSpPr>
          <p:cNvPr id="45" name="Tick 3"/>
          <p:cNvSpPr/>
          <p:nvPr/>
        </p:nvSpPr>
        <p:spPr>
          <a:xfrm>
            <a:off x="4450080" y="44805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Jalon 3"/>
          <p:cNvSpPr/>
          <p:nvPr/>
        </p:nvSpPr>
        <p:spPr>
          <a:xfrm>
            <a:off x="4294632" y="4617720"/>
            <a:ext cx="310896" cy="310896"/>
          </a:xfrm>
          <a:prstGeom prst="ellipse">
            <a:avLst/>
          </a:prstGeom>
          <a:solidFill>
            <a:srgbClr val="BC1B49"/>
          </a:solidFill>
          <a:ln w="19050">
            <a:solidFill>
              <a:srgbClr val="BC1B49"/>
            </a:solidFill>
            <a:prstDash val="solid"/>
          </a:ln>
        </p:spPr>
      </p:sp>
      <p:sp>
        <p:nvSpPr>
          <p:cNvPr id="47" name="Texte jalon 3"/>
          <p:cNvSpPr txBox="1"/>
          <p:nvPr/>
        </p:nvSpPr>
        <p:spPr>
          <a:xfrm>
            <a:off x="3636264" y="389534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C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nov. 2026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(MVP) en séance : une classe MSc, fraude + scoring crédit</a:t>
            </a:r>
            <a:endParaRPr lang="en-US" sz="1050" dirty="0"/>
          </a:p>
        </p:txBody>
      </p:sp>
      <p:sp>
        <p:nvSpPr>
          <p:cNvPr id="48" name="Tick 4"/>
          <p:cNvSpPr/>
          <p:nvPr/>
        </p:nvSpPr>
        <p:spPr>
          <a:xfrm>
            <a:off x="6080760" y="4773168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Jalon 4"/>
          <p:cNvSpPr/>
          <p:nvPr/>
        </p:nvSpPr>
        <p:spPr>
          <a:xfrm>
            <a:off x="5980176" y="467258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5C6"/>
            </a:solidFill>
            <a:prstDash val="solid"/>
          </a:ln>
        </p:spPr>
      </p:sp>
      <p:sp>
        <p:nvSpPr>
          <p:cNvPr id="50" name="Texte jalon 4"/>
          <p:cNvSpPr txBox="1"/>
          <p:nvPr/>
        </p:nvSpPr>
        <p:spPr>
          <a:xfrm>
            <a:off x="5266944" y="51023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2026 – janv. 2027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en autonomie, sessions de feedback avec les étudiants</a:t>
            </a:r>
            <a:endParaRPr lang="en-US" sz="1000" dirty="0"/>
          </a:p>
        </p:txBody>
      </p:sp>
      <p:sp>
        <p:nvSpPr>
          <p:cNvPr id="51" name="Tick 5"/>
          <p:cNvSpPr/>
          <p:nvPr/>
        </p:nvSpPr>
        <p:spPr>
          <a:xfrm>
            <a:off x="7711440" y="44805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Jalon 5"/>
          <p:cNvSpPr/>
          <p:nvPr/>
        </p:nvSpPr>
        <p:spPr>
          <a:xfrm>
            <a:off x="7610856" y="467258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5C6"/>
            </a:solidFill>
            <a:prstDash val="solid"/>
          </a:ln>
        </p:spPr>
      </p:sp>
      <p:sp>
        <p:nvSpPr>
          <p:cNvPr id="53" name="Texte jalon 5"/>
          <p:cNvSpPr txBox="1"/>
          <p:nvPr/>
        </p:nvSpPr>
        <p:spPr>
          <a:xfrm>
            <a:off x="6897624" y="389534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 2027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élargi : ≥ 25 apprentis Atlas, enseignants autonomes</a:t>
            </a:r>
            <a:endParaRPr lang="en-US" sz="1000" dirty="0"/>
          </a:p>
        </p:txBody>
      </p:sp>
      <p:sp>
        <p:nvSpPr>
          <p:cNvPr id="54" name="Tick 6"/>
          <p:cNvSpPr/>
          <p:nvPr/>
        </p:nvSpPr>
        <p:spPr>
          <a:xfrm>
            <a:off x="9342120" y="4773168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Jalon 6"/>
          <p:cNvSpPr/>
          <p:nvPr/>
        </p:nvSpPr>
        <p:spPr>
          <a:xfrm>
            <a:off x="9241536" y="467258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5C6"/>
            </a:solidFill>
            <a:prstDash val="solid"/>
          </a:ln>
        </p:spPr>
      </p:sp>
      <p:sp>
        <p:nvSpPr>
          <p:cNvPr id="56" name="Texte jalon 6"/>
          <p:cNvSpPr txBox="1"/>
          <p:nvPr/>
        </p:nvSpPr>
        <p:spPr>
          <a:xfrm>
            <a:off x="8528304" y="510235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– juin 2027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mi-parcours Atlas : démo, retours apprentis et tuteurs</a:t>
            </a:r>
            <a:endParaRPr lang="en-US" sz="1000" dirty="0"/>
          </a:p>
        </p:txBody>
      </p:sp>
      <p:sp>
        <p:nvSpPr>
          <p:cNvPr id="57" name="Tick 7"/>
          <p:cNvSpPr/>
          <p:nvPr/>
        </p:nvSpPr>
        <p:spPr>
          <a:xfrm>
            <a:off x="10972800" y="44805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" name="Jalon 7"/>
          <p:cNvSpPr/>
          <p:nvPr/>
        </p:nvSpPr>
        <p:spPr>
          <a:xfrm>
            <a:off x="10872216" y="467258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85C6"/>
            </a:solidFill>
            <a:prstDash val="solid"/>
          </a:ln>
        </p:spPr>
      </p:sp>
      <p:sp>
        <p:nvSpPr>
          <p:cNvPr id="59" name="Texte jalon 7"/>
          <p:cNvSpPr txBox="1"/>
          <p:nvPr/>
        </p:nvSpPr>
        <p:spPr>
          <a:xfrm>
            <a:off x="10158984" y="389534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 2027 → 2028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Data &amp; IA : ~50 puis ~100 apprentis, nouveaux scénarios</a:t>
            </a:r>
            <a:endParaRPr lang="en-US" sz="1000" dirty="0"/>
          </a:p>
        </p:txBody>
      </p:sp>
      <p:sp>
        <p:nvSpPr>
          <p:cNvPr id="60" name="Label KPI"/>
          <p:cNvSpPr txBox="1"/>
          <p:nvPr/>
        </p:nvSpPr>
        <p:spPr>
          <a:xfrm>
            <a:off x="411480" y="5742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KPI DU MVP (bêta de nov. 2026 à janv. 2027)</a:t>
            </a:r>
            <a:endParaRPr lang="en-US" sz="950" dirty="0"/>
          </a:p>
        </p:txBody>
      </p:sp>
      <p:sp>
        <p:nvSpPr>
          <p:cNvPr id="61" name="KPI 1"/>
          <p:cNvSpPr/>
          <p:nvPr/>
        </p:nvSpPr>
        <p:spPr>
          <a:xfrm>
            <a:off x="411480" y="6016752"/>
            <a:ext cx="2141525" cy="603504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2" name="KPI valeur 1"/>
          <p:cNvSpPr txBox="1"/>
          <p:nvPr/>
        </p:nvSpPr>
        <p:spPr>
          <a:xfrm>
            <a:off x="521208" y="60441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600" dirty="0"/>
          </a:p>
        </p:txBody>
      </p:sp>
      <p:sp>
        <p:nvSpPr>
          <p:cNvPr id="63" name="KPI libellé 1"/>
          <p:cNvSpPr txBox="1"/>
          <p:nvPr/>
        </p:nvSpPr>
        <p:spPr>
          <a:xfrm>
            <a:off x="521208" y="6318504"/>
            <a:ext cx="1958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: classe pilote activée dès la première séance</a:t>
            </a:r>
            <a:endParaRPr lang="en-US" sz="850" dirty="0"/>
          </a:p>
        </p:txBody>
      </p:sp>
      <p:sp>
        <p:nvSpPr>
          <p:cNvPr id="64" name="KPI 2"/>
          <p:cNvSpPr/>
          <p:nvPr/>
        </p:nvSpPr>
        <p:spPr>
          <a:xfrm>
            <a:off x="2717597" y="6016752"/>
            <a:ext cx="2141525" cy="603504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5" name="KPI valeur 2"/>
          <p:cNvSpPr txBox="1"/>
          <p:nvPr/>
        </p:nvSpPr>
        <p:spPr>
          <a:xfrm>
            <a:off x="2827325" y="60441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/ sem.</a:t>
            </a:r>
            <a:endParaRPr lang="en-US" sz="1600" dirty="0"/>
          </a:p>
        </p:txBody>
      </p:sp>
      <p:sp>
        <p:nvSpPr>
          <p:cNvPr id="66" name="KPI libellé 2"/>
          <p:cNvSpPr txBox="1"/>
          <p:nvPr/>
        </p:nvSpPr>
        <p:spPr>
          <a:xfrm>
            <a:off x="2827325" y="6318504"/>
            <a:ext cx="1958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: sessions par apprenti, en classe et en autonomie</a:t>
            </a:r>
            <a:endParaRPr lang="en-US" sz="850" dirty="0"/>
          </a:p>
        </p:txBody>
      </p:sp>
      <p:sp>
        <p:nvSpPr>
          <p:cNvPr id="67" name="KPI 3"/>
          <p:cNvSpPr/>
          <p:nvPr/>
        </p:nvSpPr>
        <p:spPr>
          <a:xfrm>
            <a:off x="5023714" y="6016752"/>
            <a:ext cx="2141525" cy="603504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8" name="KPI valeur 3"/>
          <p:cNvSpPr txBox="1"/>
          <p:nvPr/>
        </p:nvSpPr>
        <p:spPr>
          <a:xfrm>
            <a:off x="5133442" y="60441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1600" dirty="0"/>
          </a:p>
        </p:txBody>
      </p:sp>
      <p:sp>
        <p:nvSpPr>
          <p:cNvPr id="69" name="KPI libellé 3"/>
          <p:cNvSpPr txBox="1"/>
          <p:nvPr/>
        </p:nvSpPr>
        <p:spPr>
          <a:xfrm>
            <a:off x="5133442" y="6318504"/>
            <a:ext cx="1958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: les deux scénarios terminés et soumis</a:t>
            </a:r>
            <a:endParaRPr lang="en-US" sz="850" dirty="0"/>
          </a:p>
        </p:txBody>
      </p:sp>
      <p:sp>
        <p:nvSpPr>
          <p:cNvPr id="70" name="KPI 4"/>
          <p:cNvSpPr/>
          <p:nvPr/>
        </p:nvSpPr>
        <p:spPr>
          <a:xfrm>
            <a:off x="7329830" y="6016752"/>
            <a:ext cx="2141525" cy="603504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1" name="KPI valeur 4"/>
          <p:cNvSpPr txBox="1"/>
          <p:nvPr/>
        </p:nvSpPr>
        <p:spPr>
          <a:xfrm>
            <a:off x="7439558" y="60441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600" dirty="0"/>
          </a:p>
        </p:txBody>
      </p:sp>
      <p:sp>
        <p:nvSpPr>
          <p:cNvPr id="72" name="KPI libellé 4"/>
          <p:cNvSpPr txBox="1"/>
          <p:nvPr/>
        </p:nvSpPr>
        <p:spPr>
          <a:xfrm>
            <a:off x="7439558" y="6318504"/>
            <a:ext cx="1958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Tuteur IA : délai de feedback, ≥ 80 % de concordance avec l'enseignant</a:t>
            </a:r>
            <a:endParaRPr lang="en-US" sz="850" dirty="0"/>
          </a:p>
        </p:txBody>
      </p:sp>
      <p:sp>
        <p:nvSpPr>
          <p:cNvPr id="73" name="KPI 5"/>
          <p:cNvSpPr/>
          <p:nvPr/>
        </p:nvSpPr>
        <p:spPr>
          <a:xfrm>
            <a:off x="9635947" y="6016752"/>
            <a:ext cx="2141525" cy="603504"/>
          </a:xfrm>
          <a:prstGeom prst="roundRect">
            <a:avLst>
              <a:gd name="adj" fmla="val 909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4" name="KPI valeur 5"/>
          <p:cNvSpPr txBox="1"/>
          <p:nvPr/>
        </p:nvSpPr>
        <p:spPr>
          <a:xfrm>
            <a:off x="9745675" y="6044184"/>
            <a:ext cx="1958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600" dirty="0"/>
          </a:p>
        </p:txBody>
      </p:sp>
      <p:sp>
        <p:nvSpPr>
          <p:cNvPr id="75" name="KPI libellé 5"/>
          <p:cNvSpPr txBox="1"/>
          <p:nvPr/>
        </p:nvSpPr>
        <p:spPr>
          <a:xfrm>
            <a:off x="9745675" y="6318504"/>
            <a:ext cx="19586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en TP : temps de setup, satisfaction ≥ 4 / 5</a:t>
            </a:r>
            <a:endParaRPr lang="en-US" sz="850" dirty="0"/>
          </a:p>
        </p:txBody>
      </p:sp>
      <p:sp>
        <p:nvSpPr>
          <p:cNvPr id="76" name="Sources"/>
          <p:cNvSpPr txBox="1"/>
          <p:nvPr/>
        </p:nvSpPr>
        <p:spPr>
          <a:xfrm>
            <a:off x="411480" y="6638544"/>
            <a:ext cx="11365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Software Carpentry, Tips for Instructors (30 à 60 min d'installation en début d'atelier) · ASEE, Factors that Affect Student Frustration Level in Introductory Laboratory Experiences (78 %) · Jalons : kick-off ImmersIA du 25 sept. 2026 · Cibles KPI : proposition à valider en commission.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theme/theme1.xml><?xml version="1.0" encoding="utf-8"?>
<a:theme xmlns:a="http://schemas.openxmlformats.org/drawingml/2006/main" name="ImmersIA">
  <a:themeElements>
    <a:clrScheme name="ImmersIA">
      <a:dk1>
        <a:srgbClr val="152539"/>
      </a:dk1>
      <a:lt1>
        <a:srgbClr val="FFFFFF"/>
      </a:lt1>
      <a:dk2>
        <a:srgbClr val="334155"/>
      </a:dk2>
      <a:lt2>
        <a:srgbClr val="F3F6FA"/>
      </a:lt2>
      <a:accent1>
        <a:srgbClr val="0076C2"/>
      </a:accent1>
      <a:accent2>
        <a:srgbClr val="BC1B49"/>
      </a:accent2>
      <a:accent3>
        <a:srgbClr val="522583"/>
      </a:accent3>
      <a:accent4>
        <a:srgbClr val="3D85C6"/>
      </a:accent4>
      <a:accent5>
        <a:srgbClr val="C97A00"/>
      </a:accent5>
      <a:accent6>
        <a:srgbClr val="64748B"/>
      </a:accent6>
      <a:hlink>
        <a:srgbClr val="0076C2"/>
      </a:hlink>
      <a:folHlink>
        <a:srgbClr val="522583"/>
      </a:folHlink>
    </a:clrScheme>
    <a:fontScheme name="Immers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ImmersIA — commission d'ingénierie pédagogique</dc:title>
  <dc:subject>PptxGenJS Presentation</dc:subject>
  <dc:creator>PST&amp;B</dc:creator>
  <cp:lastModifiedBy>PST&amp;B</cp:lastModifiedBy>
  <cp:revision>1</cp:revision>
  <dcterms:created xsi:type="dcterms:W3CDTF">2026-10-07T10:46:18Z</dcterms:created>
  <dcterms:modified xsi:type="dcterms:W3CDTF">2026-10-07T10:46:18Z</dcterms:modified>
</cp:coreProperties>
</file>