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ImmersIA en une slide. Gauche : le problème et deux chiffres (apparaissent au clic). Droite : architecture (apprenti → connexion → environnement prêt → tuteur IA, boucle de feedback ; traces → notre LLM → vue enseignant), feuille de route en chevrons, cibles du MVP.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neau cyan"/>
          <p:cNvSpPr/>
          <p:nvPr/>
        </p:nvSpPr>
        <p:spPr>
          <a:xfrm>
            <a:off x="0" y="0"/>
            <a:ext cx="3566160" cy="6858000"/>
          </a:xfrm>
          <a:prstGeom prst="rect">
            <a:avLst/>
          </a:prstGeom>
          <a:solidFill>
            <a:srgbClr val="01A6E0"/>
          </a:solidFill>
          <a:ln w="12700">
            <a:solidFill>
              <a:srgbClr val="01A6E0"/>
            </a:solidFill>
            <a:prstDash val="solid"/>
          </a:ln>
        </p:spPr>
      </p:sp>
      <p:sp>
        <p:nvSpPr>
          <p:cNvPr id="3" name="Biseau cyan"/>
          <p:cNvSpPr/>
          <p:nvPr/>
        </p:nvSpPr>
        <p:spPr>
          <a:xfrm flipV="1">
            <a:off x="3557016" y="0"/>
            <a:ext cx="731520" cy="6858000"/>
          </a:xfrm>
          <a:prstGeom prst="rtTriangle">
            <a:avLst/>
          </a:prstGeom>
          <a:solidFill>
            <a:srgbClr val="01A6E0"/>
          </a:solidFill>
          <a:ln w="12700">
            <a:solidFill>
              <a:srgbClr val="01A6E0"/>
            </a:solidFill>
            <a:prstDash val="solid"/>
          </a:ln>
        </p:spPr>
      </p:sp>
      <p:sp>
        <p:nvSpPr>
          <p:cNvPr id="4" name="Angle violet"/>
          <p:cNvSpPr/>
          <p:nvPr/>
        </p:nvSpPr>
        <p:spPr>
          <a:xfrm flipV="1">
            <a:off x="0" y="0"/>
            <a:ext cx="685800" cy="1554480"/>
          </a:xfrm>
          <a:prstGeom prst="rtTriangle">
            <a:avLst/>
          </a:prstGeom>
          <a:solidFill>
            <a:srgbClr val="522582"/>
          </a:solidFill>
          <a:ln w="12700">
            <a:solidFill>
              <a:srgbClr val="522582"/>
            </a:solidFill>
            <a:prstDash val="solid"/>
          </a:ln>
        </p:spPr>
      </p:sp>
      <p:sp>
        <p:nvSpPr>
          <p:cNvPr id="5" name="Angle magenta"/>
          <p:cNvSpPr/>
          <p:nvPr/>
        </p:nvSpPr>
        <p:spPr>
          <a:xfrm>
            <a:off x="0" y="4754880"/>
            <a:ext cx="1234440" cy="2103120"/>
          </a:xfrm>
          <a:prstGeom prst="rtTriangle">
            <a:avLst/>
          </a:prstGeom>
          <a:solidFill>
            <a:srgbClr val="BC1A49"/>
          </a:solidFill>
          <a:ln w="12700">
            <a:solidFill>
              <a:srgbClr val="BC1A49"/>
            </a:solidFill>
            <a:prstDash val="solid"/>
          </a:ln>
        </p:spPr>
      </p:sp>
      <p:pic>
        <p:nvPicPr>
          <p:cNvPr id="6" name="Logo PST&amp;B" descr="/tmp/claude-0/-home-user-Portfolio/a3137db1-1f36-57d7-bb52-5d24dba6053c/scratchpad/build/assets/pstb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47472"/>
            <a:ext cx="1371600" cy="585216"/>
          </a:xfrm>
          <a:prstGeom prst="rect">
            <a:avLst/>
          </a:prstGeom>
        </p:spPr>
      </p:pic>
      <p:sp>
        <p:nvSpPr>
          <p:cNvPr id="7" name="Titre"/>
          <p:cNvSpPr txBox="1"/>
          <p:nvPr/>
        </p:nvSpPr>
        <p:spPr>
          <a:xfrm>
            <a:off x="411480" y="11430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ImmersIA</a:t>
            </a:r>
            <a:endParaRPr lang="en-US" sz="3600" dirty="0"/>
          </a:p>
        </p:txBody>
      </p:sp>
      <p:sp>
        <p:nvSpPr>
          <p:cNvPr id="8" name="Accroche"/>
          <p:cNvSpPr txBox="1"/>
          <p:nvPr/>
        </p:nvSpPr>
        <p:spPr>
          <a:xfrm>
            <a:off x="411480" y="18013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lab virtuel des apprentis Data &amp; IA : cas réels, environnement prêt, tuteur IA.</a:t>
            </a:r>
            <a:endParaRPr lang="en-US" sz="1100" dirty="0"/>
          </a:p>
        </p:txBody>
      </p:sp>
      <p:sp>
        <p:nvSpPr>
          <p:cNvPr id="9" name="Problème"/>
          <p:cNvSpPr txBox="1"/>
          <p:nvPr/>
        </p:nvSpPr>
        <p:spPr>
          <a:xfrm>
            <a:off x="411480" y="26060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Chaque étudiant arrive avec sa machine : les premiers TP se perdent à installer outils et packages, et l'enseignant dépanne au lieu d'enseigner.</a:t>
            </a:r>
            <a:endParaRPr lang="en-US" sz="1000" dirty="0"/>
          </a:p>
        </p:txBody>
      </p:sp>
      <p:sp>
        <p:nvSpPr>
          <p:cNvPr id="10" name="Stat 1 chiffre"/>
          <p:cNvSpPr txBox="1"/>
          <p:nvPr/>
        </p:nvSpPr>
        <p:spPr>
          <a:xfrm>
            <a:off x="411480" y="36118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 à 60 min</a:t>
            </a:r>
            <a:endParaRPr lang="en-US" sz="3000" dirty="0"/>
          </a:p>
        </p:txBody>
      </p:sp>
      <p:sp>
        <p:nvSpPr>
          <p:cNvPr id="11" name="Stat 1 légende"/>
          <p:cNvSpPr txBox="1"/>
          <p:nvPr/>
        </p:nvSpPr>
        <p:spPr>
          <a:xfrm>
            <a:off x="411480" y="408736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chaque première séance passées à installer</a:t>
            </a:r>
            <a:endParaRPr lang="en-US" sz="900" dirty="0"/>
          </a:p>
        </p:txBody>
      </p:sp>
      <p:sp>
        <p:nvSpPr>
          <p:cNvPr id="12" name="Stat 2 chiffre"/>
          <p:cNvSpPr txBox="1"/>
          <p:nvPr/>
        </p:nvSpPr>
        <p:spPr>
          <a:xfrm>
            <a:off x="411480" y="44348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78 %</a:t>
            </a:r>
            <a:endParaRPr lang="en-US" sz="3800" dirty="0"/>
          </a:p>
        </p:txBody>
      </p:sp>
      <p:sp>
        <p:nvSpPr>
          <p:cNvPr id="13" name="Stat 2 légende"/>
          <p:cNvSpPr txBox="1"/>
          <p:nvPr/>
        </p:nvSpPr>
        <p:spPr>
          <a:xfrm>
            <a:off x="411480" y="500176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 étudiants citent matériel et configuration comme première source de frustration en TP</a:t>
            </a:r>
            <a:endParaRPr lang="en-US" sz="900" dirty="0"/>
          </a:p>
        </p:txBody>
      </p:sp>
      <p:pic>
        <p:nvPicPr>
          <p:cNvPr id="14" name="Logo OPCO Atlas — Inventer les CFA de demain" descr="/tmp/claude-0/-home-user-Portfolio/a3137db1-1f36-57d7-bb52-5d24dba6053c/scratchpad/build/assets/atlas-laure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806440"/>
            <a:ext cx="1188720" cy="713232"/>
          </a:xfrm>
          <a:prstGeom prst="rect">
            <a:avLst/>
          </a:prstGeom>
        </p:spPr>
      </p:pic>
      <p:sp>
        <p:nvSpPr>
          <p:cNvPr id="15" name="Mention partenaires"/>
          <p:cNvSpPr txBox="1"/>
          <p:nvPr/>
        </p:nvSpPr>
        <p:spPr>
          <a:xfrm>
            <a:off x="1737360" y="5852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Projet PST&amp;B, lauréat OPCO Atlas, développé avec Galileo.</a:t>
            </a:r>
            <a:endParaRPr lang="en-US" sz="800" dirty="0"/>
          </a:p>
        </p:txBody>
      </p:sp>
      <p:sp>
        <p:nvSpPr>
          <p:cNvPr id="16" name="Label architecture"/>
          <p:cNvSpPr txBox="1"/>
          <p:nvPr/>
        </p:nvSpPr>
        <p:spPr>
          <a:xfrm>
            <a:off x="4617720" y="237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01A6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ARCHITECTURE</a:t>
            </a:r>
            <a:endParaRPr lang="en-US" sz="900" dirty="0"/>
          </a:p>
        </p:txBody>
      </p:sp>
      <p:sp>
        <p:nvSpPr>
          <p:cNvPr id="17" name="Acteur Apprenti"/>
          <p:cNvSpPr/>
          <p:nvPr/>
        </p:nvSpPr>
        <p:spPr>
          <a:xfrm>
            <a:off x="4645152" y="1005840"/>
            <a:ext cx="548640" cy="548640"/>
          </a:xfrm>
          <a:prstGeom prst="ellipse">
            <a:avLst/>
          </a:prstGeom>
          <a:solidFill>
            <a:srgbClr val="152539"/>
          </a:solidFill>
          <a:ln w="12700">
            <a:solidFill>
              <a:srgbClr val="152539"/>
            </a:solidFill>
            <a:prstDash val="solid"/>
          </a:ln>
        </p:spPr>
      </p:sp>
      <p:pic>
        <p:nvPicPr>
          <p:cNvPr id="18" name="Icône Apprent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133856"/>
            <a:ext cx="292608" cy="292608"/>
          </a:xfrm>
          <a:prstGeom prst="rect">
            <a:avLst/>
          </a:prstGeom>
        </p:spPr>
      </p:pic>
      <p:sp>
        <p:nvSpPr>
          <p:cNvPr id="19" name="Nom Apprenti"/>
          <p:cNvSpPr txBox="1"/>
          <p:nvPr/>
        </p:nvSpPr>
        <p:spPr>
          <a:xfrm>
            <a:off x="4416552" y="159105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5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Apprenti</a:t>
            </a:r>
            <a:endParaRPr lang="en-US" sz="850" dirty="0"/>
          </a:p>
        </p:txBody>
      </p:sp>
      <p:sp>
        <p:nvSpPr>
          <p:cNvPr id="20" name="Flèche apprenti → connexion"/>
          <p:cNvSpPr/>
          <p:nvPr/>
        </p:nvSpPr>
        <p:spPr>
          <a:xfrm>
            <a:off x="5230368" y="1280160"/>
            <a:ext cx="228600" cy="0"/>
          </a:xfrm>
          <a:prstGeom prst="line">
            <a:avLst/>
          </a:prstGeom>
          <a:noFill/>
          <a:ln w="19050">
            <a:solidFill>
              <a:srgbClr val="01A6E0"/>
            </a:solidFill>
            <a:prstDash val="solid"/>
            <a:tailEnd type="triangle"/>
          </a:ln>
        </p:spPr>
      </p:sp>
      <p:sp>
        <p:nvSpPr>
          <p:cNvPr id="21" name="Brique Connexion"/>
          <p:cNvSpPr/>
          <p:nvPr/>
        </p:nvSpPr>
        <p:spPr>
          <a:xfrm>
            <a:off x="5486400" y="868680"/>
            <a:ext cx="13716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1A6E0"/>
            </a:solidFill>
            <a:prstDash val="solid"/>
          </a:ln>
        </p:spPr>
      </p:sp>
      <p:sp>
        <p:nvSpPr>
          <p:cNvPr id="22" name="Pastille Connexion"/>
          <p:cNvSpPr/>
          <p:nvPr/>
        </p:nvSpPr>
        <p:spPr>
          <a:xfrm>
            <a:off x="5577840" y="960120"/>
            <a:ext cx="329184" cy="329184"/>
          </a:xfrm>
          <a:prstGeom prst="ellipse">
            <a:avLst/>
          </a:prstGeom>
          <a:solidFill>
            <a:srgbClr val="01A6E0"/>
          </a:solidFill>
          <a:ln w="12700">
            <a:solidFill>
              <a:srgbClr val="01A6E0"/>
            </a:solidFill>
            <a:prstDash val="solid"/>
          </a:ln>
        </p:spPr>
      </p:sp>
      <p:pic>
        <p:nvPicPr>
          <p:cNvPr id="23" name="Icône Connex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0992" y="1033272"/>
            <a:ext cx="182880" cy="182880"/>
          </a:xfrm>
          <a:prstGeom prst="rect">
            <a:avLst/>
          </a:prstGeom>
        </p:spPr>
      </p:pic>
      <p:sp>
        <p:nvSpPr>
          <p:cNvPr id="24" name="Titre Connexion"/>
          <p:cNvSpPr txBox="1"/>
          <p:nvPr/>
        </p:nvSpPr>
        <p:spPr>
          <a:xfrm>
            <a:off x="5961888" y="941832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25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Connexion</a:t>
            </a:r>
            <a:endParaRPr lang="en-US" sz="950" dirty="0"/>
          </a:p>
        </p:txBody>
      </p:sp>
      <p:sp>
        <p:nvSpPr>
          <p:cNvPr id="25" name="Détail Connexion"/>
          <p:cNvSpPr txBox="1"/>
          <p:nvPr/>
        </p:nvSpPr>
        <p:spPr>
          <a:xfrm>
            <a:off x="5577840" y="132588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compte étudiant, accès unique</a:t>
            </a:r>
            <a:endParaRPr lang="en-US" sz="750" dirty="0"/>
          </a:p>
        </p:txBody>
      </p:sp>
      <p:sp>
        <p:nvSpPr>
          <p:cNvPr id="26" name="Flèche connexion → environnement"/>
          <p:cNvSpPr/>
          <p:nvPr/>
        </p:nvSpPr>
        <p:spPr>
          <a:xfrm>
            <a:off x="6885432" y="1280160"/>
            <a:ext cx="173736" cy="0"/>
          </a:xfrm>
          <a:prstGeom prst="line">
            <a:avLst/>
          </a:prstGeom>
          <a:noFill/>
          <a:ln w="19050">
            <a:solidFill>
              <a:srgbClr val="01A6E0"/>
            </a:solidFill>
            <a:prstDash val="solid"/>
            <a:tailEnd type="triangle"/>
          </a:ln>
        </p:spPr>
      </p:sp>
      <p:sp>
        <p:nvSpPr>
          <p:cNvPr id="27" name="Conteneur environnement"/>
          <p:cNvSpPr/>
          <p:nvPr/>
        </p:nvSpPr>
        <p:spPr>
          <a:xfrm>
            <a:off x="7086600" y="658368"/>
            <a:ext cx="4754880" cy="1298448"/>
          </a:xfrm>
          <a:prstGeom prst="roundRect">
            <a:avLst>
              <a:gd name="adj" fmla="val 5634"/>
            </a:avLst>
          </a:prstGeom>
          <a:solidFill>
            <a:srgbClr val="EAF7FD"/>
          </a:solidFill>
          <a:ln w="12700">
            <a:solidFill>
              <a:srgbClr val="01A6E0"/>
            </a:solidFill>
            <a:prstDash val="dash"/>
          </a:ln>
        </p:spPr>
      </p:sp>
      <p:sp>
        <p:nvSpPr>
          <p:cNvPr id="28" name="Titre conteneur"/>
          <p:cNvSpPr txBox="1"/>
          <p:nvPr/>
        </p:nvSpPr>
        <p:spPr>
          <a:xfrm>
            <a:off x="7223760" y="6949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01A6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ENVIRONNEMENT IMMERSIA</a:t>
            </a:r>
            <a:endParaRPr lang="en-US" sz="750" dirty="0"/>
          </a:p>
        </p:txBody>
      </p:sp>
      <p:sp>
        <p:nvSpPr>
          <p:cNvPr id="29" name="Brique Workspace prêt"/>
          <p:cNvSpPr/>
          <p:nvPr/>
        </p:nvSpPr>
        <p:spPr>
          <a:xfrm>
            <a:off x="7205472" y="960120"/>
            <a:ext cx="138988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078BF"/>
            </a:solidFill>
            <a:prstDash val="solid"/>
          </a:ln>
        </p:spPr>
      </p:sp>
      <p:sp>
        <p:nvSpPr>
          <p:cNvPr id="30" name="Pastille Workspace prêt"/>
          <p:cNvSpPr/>
          <p:nvPr/>
        </p:nvSpPr>
        <p:spPr>
          <a:xfrm>
            <a:off x="7296912" y="1051560"/>
            <a:ext cx="329184" cy="329184"/>
          </a:xfrm>
          <a:prstGeom prst="ellipse">
            <a:avLst/>
          </a:prstGeom>
          <a:solidFill>
            <a:srgbClr val="0078BF"/>
          </a:solidFill>
          <a:ln w="12700">
            <a:solidFill>
              <a:srgbClr val="0078BF"/>
            </a:solidFill>
            <a:prstDash val="solid"/>
          </a:ln>
        </p:spPr>
      </p:sp>
      <p:pic>
        <p:nvPicPr>
          <p:cNvPr id="31" name="Icône Workspace prê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0064" y="1124712"/>
            <a:ext cx="182880" cy="182880"/>
          </a:xfrm>
          <a:prstGeom prst="rect">
            <a:avLst/>
          </a:prstGeom>
        </p:spPr>
      </p:pic>
      <p:sp>
        <p:nvSpPr>
          <p:cNvPr id="32" name="Titre Workspace prêt"/>
          <p:cNvSpPr txBox="1"/>
          <p:nvPr/>
        </p:nvSpPr>
        <p:spPr>
          <a:xfrm>
            <a:off x="7680960" y="1033272"/>
            <a:ext cx="859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25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Workspace prêt</a:t>
            </a:r>
            <a:endParaRPr lang="en-US" sz="950" dirty="0"/>
          </a:p>
        </p:txBody>
      </p:sp>
      <p:sp>
        <p:nvSpPr>
          <p:cNvPr id="33" name="Détail Workspace prêt"/>
          <p:cNvSpPr txBox="1"/>
          <p:nvPr/>
        </p:nvSpPr>
        <p:spPr>
          <a:xfrm>
            <a:off x="7296912" y="141732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VS Code, notebooks, datasets, no-code</a:t>
            </a:r>
            <a:endParaRPr lang="en-US" sz="750" dirty="0"/>
          </a:p>
        </p:txBody>
      </p:sp>
      <p:sp>
        <p:nvSpPr>
          <p:cNvPr id="34" name="Flèche interne 1"/>
          <p:cNvSpPr/>
          <p:nvPr/>
        </p:nvSpPr>
        <p:spPr>
          <a:xfrm>
            <a:off x="8622792" y="1280160"/>
            <a:ext cx="109728" cy="0"/>
          </a:xfrm>
          <a:prstGeom prst="line">
            <a:avLst/>
          </a:prstGeom>
          <a:noFill/>
          <a:ln w="19050">
            <a:solidFill>
              <a:srgbClr val="0078BF"/>
            </a:solidFill>
            <a:prstDash val="solid"/>
            <a:tailEnd type="triangle"/>
          </a:ln>
        </p:spPr>
      </p:sp>
      <p:sp>
        <p:nvSpPr>
          <p:cNvPr id="35" name="Brique Scénarios métiers"/>
          <p:cNvSpPr/>
          <p:nvPr/>
        </p:nvSpPr>
        <p:spPr>
          <a:xfrm>
            <a:off x="8759952" y="960120"/>
            <a:ext cx="138988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078BF"/>
            </a:solidFill>
            <a:prstDash val="solid"/>
          </a:ln>
        </p:spPr>
      </p:sp>
      <p:sp>
        <p:nvSpPr>
          <p:cNvPr id="36" name="Pastille Scénarios métiers"/>
          <p:cNvSpPr/>
          <p:nvPr/>
        </p:nvSpPr>
        <p:spPr>
          <a:xfrm>
            <a:off x="8851392" y="1051560"/>
            <a:ext cx="329184" cy="329184"/>
          </a:xfrm>
          <a:prstGeom prst="ellipse">
            <a:avLst/>
          </a:prstGeom>
          <a:solidFill>
            <a:srgbClr val="0078BF"/>
          </a:solidFill>
          <a:ln w="12700">
            <a:solidFill>
              <a:srgbClr val="0078BF"/>
            </a:solidFill>
            <a:prstDash val="solid"/>
          </a:ln>
        </p:spPr>
      </p:sp>
      <p:pic>
        <p:nvPicPr>
          <p:cNvPr id="37" name="Icône Scénarios métiers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4544" y="1124712"/>
            <a:ext cx="182880" cy="182880"/>
          </a:xfrm>
          <a:prstGeom prst="rect">
            <a:avLst/>
          </a:prstGeom>
        </p:spPr>
      </p:pic>
      <p:sp>
        <p:nvSpPr>
          <p:cNvPr id="38" name="Titre Scénarios métiers"/>
          <p:cNvSpPr txBox="1"/>
          <p:nvPr/>
        </p:nvSpPr>
        <p:spPr>
          <a:xfrm>
            <a:off x="9235440" y="1033272"/>
            <a:ext cx="859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25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Scénarios métiers</a:t>
            </a:r>
            <a:endParaRPr lang="en-US" sz="950" dirty="0"/>
          </a:p>
        </p:txBody>
      </p:sp>
      <p:sp>
        <p:nvSpPr>
          <p:cNvPr id="39" name="Détail Scénarios métiers"/>
          <p:cNvSpPr txBox="1"/>
          <p:nvPr/>
        </p:nvSpPr>
        <p:spPr>
          <a:xfrm>
            <a:off x="8851392" y="141732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banque, assurance, conseil</a:t>
            </a:r>
            <a:endParaRPr lang="en-US" sz="750" dirty="0"/>
          </a:p>
        </p:txBody>
      </p:sp>
      <p:sp>
        <p:nvSpPr>
          <p:cNvPr id="40" name="Flèche interne 2"/>
          <p:cNvSpPr/>
          <p:nvPr/>
        </p:nvSpPr>
        <p:spPr>
          <a:xfrm>
            <a:off x="10177272" y="1280160"/>
            <a:ext cx="109728" cy="0"/>
          </a:xfrm>
          <a:prstGeom prst="line">
            <a:avLst/>
          </a:prstGeom>
          <a:noFill/>
          <a:ln w="19050">
            <a:solidFill>
              <a:srgbClr val="0078BF"/>
            </a:solidFill>
            <a:prstDash val="solid"/>
            <a:tailEnd type="triangle"/>
          </a:ln>
        </p:spPr>
      </p:sp>
      <p:sp>
        <p:nvSpPr>
          <p:cNvPr id="41" name="Brique Tuteur IA"/>
          <p:cNvSpPr/>
          <p:nvPr/>
        </p:nvSpPr>
        <p:spPr>
          <a:xfrm>
            <a:off x="10314432" y="960120"/>
            <a:ext cx="138988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BC1A49"/>
            </a:solidFill>
            <a:prstDash val="solid"/>
          </a:ln>
        </p:spPr>
      </p:sp>
      <p:sp>
        <p:nvSpPr>
          <p:cNvPr id="42" name="Pastille Tuteur IA"/>
          <p:cNvSpPr/>
          <p:nvPr/>
        </p:nvSpPr>
        <p:spPr>
          <a:xfrm>
            <a:off x="10405872" y="1051560"/>
            <a:ext cx="329184" cy="329184"/>
          </a:xfrm>
          <a:prstGeom prst="ellipse">
            <a:avLst/>
          </a:prstGeom>
          <a:solidFill>
            <a:srgbClr val="BC1A49"/>
          </a:solidFill>
          <a:ln w="12700">
            <a:solidFill>
              <a:srgbClr val="BC1A49"/>
            </a:solidFill>
            <a:prstDash val="solid"/>
          </a:ln>
        </p:spPr>
      </p:sp>
      <p:pic>
        <p:nvPicPr>
          <p:cNvPr id="43" name="Icône Tuteur IA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9024" y="1124712"/>
            <a:ext cx="182880" cy="182880"/>
          </a:xfrm>
          <a:prstGeom prst="rect">
            <a:avLst/>
          </a:prstGeom>
        </p:spPr>
      </p:pic>
      <p:sp>
        <p:nvSpPr>
          <p:cNvPr id="44" name="Titre Tuteur IA"/>
          <p:cNvSpPr txBox="1"/>
          <p:nvPr/>
        </p:nvSpPr>
        <p:spPr>
          <a:xfrm>
            <a:off x="10789920" y="1033272"/>
            <a:ext cx="859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25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Tuteur IA</a:t>
            </a:r>
            <a:endParaRPr lang="en-US" sz="950" dirty="0"/>
          </a:p>
        </p:txBody>
      </p:sp>
      <p:sp>
        <p:nvSpPr>
          <p:cNvPr id="45" name="Détail Tuteur IA"/>
          <p:cNvSpPr txBox="1"/>
          <p:nvPr/>
        </p:nvSpPr>
        <p:spPr>
          <a:xfrm>
            <a:off x="10405872" y="141732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feedback formatif, jamais une note</a:t>
            </a:r>
            <a:endParaRPr lang="en-US" sz="750" dirty="0"/>
          </a:p>
        </p:txBody>
      </p:sp>
      <p:sp>
        <p:nvSpPr>
          <p:cNvPr id="46" name="Retour 1"/>
          <p:cNvSpPr/>
          <p:nvPr/>
        </p:nvSpPr>
        <p:spPr>
          <a:xfrm>
            <a:off x="11009376" y="530352"/>
            <a:ext cx="0" cy="128016"/>
          </a:xfrm>
          <a:prstGeom prst="line">
            <a:avLst/>
          </a:prstGeom>
          <a:noFill/>
          <a:ln w="19050">
            <a:solidFill>
              <a:srgbClr val="BC1A49"/>
            </a:solidFill>
            <a:prstDash val="solid"/>
          </a:ln>
        </p:spPr>
      </p:sp>
      <p:sp>
        <p:nvSpPr>
          <p:cNvPr id="47" name="Retour 2"/>
          <p:cNvSpPr/>
          <p:nvPr/>
        </p:nvSpPr>
        <p:spPr>
          <a:xfrm>
            <a:off x="4919472" y="530352"/>
            <a:ext cx="6089904" cy="0"/>
          </a:xfrm>
          <a:prstGeom prst="line">
            <a:avLst/>
          </a:prstGeom>
          <a:noFill/>
          <a:ln w="19050">
            <a:solidFill>
              <a:srgbClr val="BC1A49"/>
            </a:solidFill>
            <a:prstDash val="solid"/>
          </a:ln>
        </p:spPr>
      </p:sp>
      <p:sp>
        <p:nvSpPr>
          <p:cNvPr id="48" name="Retour 3"/>
          <p:cNvSpPr/>
          <p:nvPr/>
        </p:nvSpPr>
        <p:spPr>
          <a:xfrm>
            <a:off x="4919472" y="530352"/>
            <a:ext cx="0" cy="466344"/>
          </a:xfrm>
          <a:prstGeom prst="line">
            <a:avLst/>
          </a:prstGeom>
          <a:noFill/>
          <a:ln w="19050">
            <a:solidFill>
              <a:srgbClr val="BC1A49"/>
            </a:solidFill>
            <a:prstDash val="solid"/>
            <a:tailEnd type="triangle"/>
          </a:ln>
        </p:spPr>
      </p:sp>
      <p:sp>
        <p:nvSpPr>
          <p:cNvPr id="49" name="Légende feedback"/>
          <p:cNvSpPr txBox="1"/>
          <p:nvPr/>
        </p:nvSpPr>
        <p:spPr>
          <a:xfrm>
            <a:off x="7498080" y="3017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BC1A4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feedback en moins d'une minute</a:t>
            </a:r>
            <a:endParaRPr lang="en-US" sz="800" dirty="0"/>
          </a:p>
        </p:txBody>
      </p:sp>
      <p:sp>
        <p:nvSpPr>
          <p:cNvPr id="50" name="Flèche traces"/>
          <p:cNvSpPr/>
          <p:nvPr/>
        </p:nvSpPr>
        <p:spPr>
          <a:xfrm>
            <a:off x="9464040" y="1956816"/>
            <a:ext cx="0" cy="283464"/>
          </a:xfrm>
          <a:prstGeom prst="line">
            <a:avLst/>
          </a:prstGeom>
          <a:noFill/>
          <a:ln w="19050">
            <a:solidFill>
              <a:srgbClr val="522582"/>
            </a:solidFill>
            <a:prstDash val="solid"/>
            <a:tailEnd type="triangle"/>
          </a:ln>
        </p:spPr>
      </p:sp>
      <p:sp>
        <p:nvSpPr>
          <p:cNvPr id="51" name="Légende traces"/>
          <p:cNvSpPr txBox="1"/>
          <p:nvPr/>
        </p:nvSpPr>
        <p:spPr>
          <a:xfrm>
            <a:off x="9555480" y="19842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225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traces, soumissions, versions</a:t>
            </a:r>
            <a:endParaRPr lang="en-US" sz="750" dirty="0"/>
          </a:p>
        </p:txBody>
      </p:sp>
      <p:sp>
        <p:nvSpPr>
          <p:cNvPr id="52" name="Brique LLM"/>
          <p:cNvSpPr/>
          <p:nvPr/>
        </p:nvSpPr>
        <p:spPr>
          <a:xfrm>
            <a:off x="8778240" y="2258568"/>
            <a:ext cx="137160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5875">
            <a:solidFill>
              <a:srgbClr val="522582"/>
            </a:solidFill>
            <a:prstDash val="solid"/>
          </a:ln>
        </p:spPr>
      </p:sp>
      <p:sp>
        <p:nvSpPr>
          <p:cNvPr id="53" name="Pastille LLM"/>
          <p:cNvSpPr/>
          <p:nvPr/>
        </p:nvSpPr>
        <p:spPr>
          <a:xfrm>
            <a:off x="8869680" y="2350008"/>
            <a:ext cx="329184" cy="329184"/>
          </a:xfrm>
          <a:prstGeom prst="ellipse">
            <a:avLst/>
          </a:prstGeom>
          <a:solidFill>
            <a:srgbClr val="522582"/>
          </a:solidFill>
          <a:ln w="12700">
            <a:solidFill>
              <a:srgbClr val="522582"/>
            </a:solidFill>
            <a:prstDash val="solid"/>
          </a:ln>
        </p:spPr>
      </p:sp>
      <p:pic>
        <p:nvPicPr>
          <p:cNvPr id="54" name="Icône LLM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42832" y="2423160"/>
            <a:ext cx="182880" cy="182880"/>
          </a:xfrm>
          <a:prstGeom prst="rect">
            <a:avLst/>
          </a:prstGeom>
        </p:spPr>
      </p:pic>
      <p:sp>
        <p:nvSpPr>
          <p:cNvPr id="55" name="Titre LLM"/>
          <p:cNvSpPr txBox="1"/>
          <p:nvPr/>
        </p:nvSpPr>
        <p:spPr>
          <a:xfrm>
            <a:off x="9253728" y="2331720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25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LLM</a:t>
            </a:r>
            <a:endParaRPr lang="en-US" sz="950" dirty="0"/>
          </a:p>
        </p:txBody>
      </p:sp>
      <p:sp>
        <p:nvSpPr>
          <p:cNvPr id="56" name="Détail LLM"/>
          <p:cNvSpPr txBox="1"/>
          <p:nvPr/>
        </p:nvSpPr>
        <p:spPr>
          <a:xfrm>
            <a:off x="8869680" y="2715768"/>
            <a:ext cx="12070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analyse des parcours</a:t>
            </a:r>
            <a:endParaRPr lang="en-US" sz="750" dirty="0"/>
          </a:p>
        </p:txBody>
      </p:sp>
      <p:sp>
        <p:nvSpPr>
          <p:cNvPr id="57" name="Flèche LLM → vue"/>
          <p:cNvSpPr/>
          <p:nvPr/>
        </p:nvSpPr>
        <p:spPr>
          <a:xfrm flipH="1">
            <a:off x="8522208" y="2606040"/>
            <a:ext cx="228600" cy="0"/>
          </a:xfrm>
          <a:prstGeom prst="line">
            <a:avLst/>
          </a:prstGeom>
          <a:noFill/>
          <a:ln w="19050">
            <a:solidFill>
              <a:srgbClr val="522582"/>
            </a:solidFill>
            <a:prstDash val="solid"/>
            <a:tailEnd type="triangle"/>
          </a:ln>
        </p:spPr>
      </p:sp>
      <p:sp>
        <p:nvSpPr>
          <p:cNvPr id="58" name="Brique Vue enseignant"/>
          <p:cNvSpPr/>
          <p:nvPr/>
        </p:nvSpPr>
        <p:spPr>
          <a:xfrm>
            <a:off x="6309360" y="2258568"/>
            <a:ext cx="219456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5875">
            <a:solidFill>
              <a:srgbClr val="522582"/>
            </a:solidFill>
            <a:prstDash val="solid"/>
          </a:ln>
        </p:spPr>
      </p:sp>
      <p:sp>
        <p:nvSpPr>
          <p:cNvPr id="59" name="Pastille Vue enseignant"/>
          <p:cNvSpPr/>
          <p:nvPr/>
        </p:nvSpPr>
        <p:spPr>
          <a:xfrm>
            <a:off x="6400800" y="2350008"/>
            <a:ext cx="329184" cy="329184"/>
          </a:xfrm>
          <a:prstGeom prst="ellipse">
            <a:avLst/>
          </a:prstGeom>
          <a:solidFill>
            <a:srgbClr val="522582"/>
          </a:solidFill>
          <a:ln w="12700">
            <a:solidFill>
              <a:srgbClr val="522582"/>
            </a:solidFill>
            <a:prstDash val="solid"/>
          </a:ln>
        </p:spPr>
      </p:sp>
      <p:pic>
        <p:nvPicPr>
          <p:cNvPr id="60" name="Icône Vue enseignant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3952" y="2423160"/>
            <a:ext cx="182880" cy="182880"/>
          </a:xfrm>
          <a:prstGeom prst="rect">
            <a:avLst/>
          </a:prstGeom>
        </p:spPr>
      </p:pic>
      <p:sp>
        <p:nvSpPr>
          <p:cNvPr id="61" name="Titre Vue enseignant"/>
          <p:cNvSpPr txBox="1"/>
          <p:nvPr/>
        </p:nvSpPr>
        <p:spPr>
          <a:xfrm>
            <a:off x="6784848" y="233172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25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Vue enseignant</a:t>
            </a:r>
            <a:endParaRPr lang="en-US" sz="950" dirty="0"/>
          </a:p>
        </p:txBody>
      </p:sp>
      <p:sp>
        <p:nvSpPr>
          <p:cNvPr id="62" name="Détail Vue enseignant"/>
          <p:cNvSpPr txBox="1"/>
          <p:nvPr/>
        </p:nvSpPr>
        <p:spPr>
          <a:xfrm>
            <a:off x="6400800" y="2715768"/>
            <a:ext cx="2029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résumé de séance · difficultés et concepts mal maîtrisés · versions soumises</a:t>
            </a:r>
            <a:endParaRPr lang="en-US" sz="750" dirty="0"/>
          </a:p>
        </p:txBody>
      </p:sp>
      <p:sp>
        <p:nvSpPr>
          <p:cNvPr id="63" name="Flèche vue → enseignant"/>
          <p:cNvSpPr/>
          <p:nvPr/>
        </p:nvSpPr>
        <p:spPr>
          <a:xfrm flipH="1">
            <a:off x="6144768" y="2606040"/>
            <a:ext cx="137160" cy="0"/>
          </a:xfrm>
          <a:prstGeom prst="line">
            <a:avLst/>
          </a:prstGeom>
          <a:noFill/>
          <a:ln w="19050">
            <a:solidFill>
              <a:srgbClr val="522582"/>
            </a:solidFill>
            <a:prstDash val="solid"/>
            <a:tailEnd type="triangle"/>
          </a:ln>
        </p:spPr>
      </p:sp>
      <p:sp>
        <p:nvSpPr>
          <p:cNvPr id="64" name="Acteur Enseignant"/>
          <p:cNvSpPr/>
          <p:nvPr/>
        </p:nvSpPr>
        <p:spPr>
          <a:xfrm>
            <a:off x="4645152" y="2331720"/>
            <a:ext cx="548640" cy="548640"/>
          </a:xfrm>
          <a:prstGeom prst="ellipse">
            <a:avLst/>
          </a:prstGeom>
          <a:solidFill>
            <a:srgbClr val="152539"/>
          </a:solidFill>
          <a:ln w="12700">
            <a:solidFill>
              <a:srgbClr val="152539"/>
            </a:solidFill>
            <a:prstDash val="solid"/>
          </a:ln>
        </p:spPr>
      </p:sp>
      <p:pic>
        <p:nvPicPr>
          <p:cNvPr id="65" name="Icône Enseignant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73168" y="2459736"/>
            <a:ext cx="292608" cy="292608"/>
          </a:xfrm>
          <a:prstGeom prst="rect">
            <a:avLst/>
          </a:prstGeom>
        </p:spPr>
      </p:pic>
      <p:sp>
        <p:nvSpPr>
          <p:cNvPr id="66" name="Nom Enseignant"/>
          <p:cNvSpPr txBox="1"/>
          <p:nvPr/>
        </p:nvSpPr>
        <p:spPr>
          <a:xfrm>
            <a:off x="4416552" y="29169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5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Enseignant</a:t>
            </a:r>
            <a:endParaRPr lang="en-US" sz="850" dirty="0"/>
          </a:p>
        </p:txBody>
      </p:sp>
      <p:sp>
        <p:nvSpPr>
          <p:cNvPr id="67" name="Label feuille de route"/>
          <p:cNvSpPr txBox="1"/>
          <p:nvPr/>
        </p:nvSpPr>
        <p:spPr>
          <a:xfrm>
            <a:off x="4617720" y="32004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01A6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FEUILLE DE ROUTE</a:t>
            </a:r>
            <a:endParaRPr lang="en-US" sz="900" dirty="0"/>
          </a:p>
        </p:txBody>
      </p:sp>
      <p:sp>
        <p:nvSpPr>
          <p:cNvPr id="68" name="Chevron Sept. 2026"/>
          <p:cNvSpPr/>
          <p:nvPr/>
        </p:nvSpPr>
        <p:spPr>
          <a:xfrm>
            <a:off x="4617720" y="3611880"/>
            <a:ext cx="1463040" cy="566928"/>
          </a:xfrm>
          <a:prstGeom prst="homePlate">
            <a:avLst/>
          </a:prstGeom>
          <a:solidFill>
            <a:srgbClr val="01A6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Date Sept. 2026"/>
          <p:cNvSpPr txBox="1"/>
          <p:nvPr/>
        </p:nvSpPr>
        <p:spPr>
          <a:xfrm>
            <a:off x="4709160" y="3611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Sept. 2026</a:t>
            </a:r>
            <a:endParaRPr lang="en-US" sz="1000" dirty="0"/>
          </a:p>
        </p:txBody>
      </p:sp>
      <p:pic>
        <p:nvPicPr>
          <p:cNvPr id="70" name="Icône Sept. 2026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90872" y="4270248"/>
            <a:ext cx="201168" cy="201168"/>
          </a:xfrm>
          <a:prstGeom prst="rect">
            <a:avLst/>
          </a:prstGeom>
        </p:spPr>
      </p:pic>
      <p:sp>
        <p:nvSpPr>
          <p:cNvPr id="71" name="Texte Sept. 2026"/>
          <p:cNvSpPr txBox="1"/>
          <p:nvPr/>
        </p:nvSpPr>
        <p:spPr>
          <a:xfrm>
            <a:off x="4946904" y="425196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Kick-off, deux scénarios choisis</a:t>
            </a:r>
            <a:endParaRPr lang="en-US" sz="800" dirty="0"/>
          </a:p>
        </p:txBody>
      </p:sp>
      <p:sp>
        <p:nvSpPr>
          <p:cNvPr id="72" name="Chevron 13 nov. 2026"/>
          <p:cNvSpPr/>
          <p:nvPr/>
        </p:nvSpPr>
        <p:spPr>
          <a:xfrm>
            <a:off x="6044184" y="3611880"/>
            <a:ext cx="1463040" cy="566928"/>
          </a:xfrm>
          <a:prstGeom prst="chevron">
            <a:avLst/>
          </a:prstGeom>
          <a:solidFill>
            <a:srgbClr val="BC1A4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Date 13 nov. 2026"/>
          <p:cNvSpPr txBox="1"/>
          <p:nvPr/>
        </p:nvSpPr>
        <p:spPr>
          <a:xfrm>
            <a:off x="6300216" y="3611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 nov. 2026</a:t>
            </a:r>
            <a:endParaRPr lang="en-US" sz="1050" dirty="0"/>
          </a:p>
        </p:txBody>
      </p:sp>
      <p:pic>
        <p:nvPicPr>
          <p:cNvPr id="74" name="Icône 13 nov. 2026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17336" y="4270248"/>
            <a:ext cx="201168" cy="201168"/>
          </a:xfrm>
          <a:prstGeom prst="rect">
            <a:avLst/>
          </a:prstGeom>
        </p:spPr>
      </p:pic>
      <p:sp>
        <p:nvSpPr>
          <p:cNvPr id="75" name="Texte 13 nov. 2026"/>
          <p:cNvSpPr txBox="1"/>
          <p:nvPr/>
        </p:nvSpPr>
        <p:spPr>
          <a:xfrm>
            <a:off x="6373368" y="425196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Bêta MVP en classe, fraude et scoring crédit</a:t>
            </a:r>
            <a:endParaRPr lang="en-US" sz="800" dirty="0"/>
          </a:p>
        </p:txBody>
      </p:sp>
      <p:sp>
        <p:nvSpPr>
          <p:cNvPr id="76" name="Chevron Fév. 2027"/>
          <p:cNvSpPr/>
          <p:nvPr/>
        </p:nvSpPr>
        <p:spPr>
          <a:xfrm>
            <a:off x="7470648" y="3611880"/>
            <a:ext cx="1463040" cy="566928"/>
          </a:xfrm>
          <a:prstGeom prst="chevron">
            <a:avLst/>
          </a:prstGeom>
          <a:solidFill>
            <a:srgbClr val="0078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Date Fév. 2027"/>
          <p:cNvSpPr txBox="1"/>
          <p:nvPr/>
        </p:nvSpPr>
        <p:spPr>
          <a:xfrm>
            <a:off x="7726680" y="3611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Fév. 2027</a:t>
            </a:r>
            <a:endParaRPr lang="en-US" sz="1000" dirty="0"/>
          </a:p>
        </p:txBody>
      </p:sp>
      <p:pic>
        <p:nvPicPr>
          <p:cNvPr id="78" name="Icône Fév. 2027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43800" y="4270248"/>
            <a:ext cx="201168" cy="201168"/>
          </a:xfrm>
          <a:prstGeom prst="rect">
            <a:avLst/>
          </a:prstGeom>
        </p:spPr>
      </p:pic>
      <p:sp>
        <p:nvSpPr>
          <p:cNvPr id="79" name="Texte Fév. 2027"/>
          <p:cNvSpPr txBox="1"/>
          <p:nvPr/>
        </p:nvSpPr>
        <p:spPr>
          <a:xfrm>
            <a:off x="7799832" y="425196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Pilote élargi, 25+ apprentis Atlas</a:t>
            </a:r>
            <a:endParaRPr lang="en-US" sz="800" dirty="0"/>
          </a:p>
        </p:txBody>
      </p:sp>
      <p:sp>
        <p:nvSpPr>
          <p:cNvPr id="80" name="Chevron Juin 2027"/>
          <p:cNvSpPr/>
          <p:nvPr/>
        </p:nvSpPr>
        <p:spPr>
          <a:xfrm>
            <a:off x="8897112" y="3611880"/>
            <a:ext cx="1463040" cy="566928"/>
          </a:xfrm>
          <a:prstGeom prst="chevron">
            <a:avLst/>
          </a:prstGeom>
          <a:solidFill>
            <a:srgbClr val="5225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Date Juin 2027"/>
          <p:cNvSpPr txBox="1"/>
          <p:nvPr/>
        </p:nvSpPr>
        <p:spPr>
          <a:xfrm>
            <a:off x="9153144" y="3611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Juin 2027</a:t>
            </a:r>
            <a:endParaRPr lang="en-US" sz="1000" dirty="0"/>
          </a:p>
        </p:txBody>
      </p:sp>
      <p:pic>
        <p:nvPicPr>
          <p:cNvPr id="82" name="Icône Juin 2027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970264" y="4270248"/>
            <a:ext cx="201168" cy="201168"/>
          </a:xfrm>
          <a:prstGeom prst="rect">
            <a:avLst/>
          </a:prstGeom>
        </p:spPr>
      </p:pic>
      <p:sp>
        <p:nvSpPr>
          <p:cNvPr id="83" name="Texte Juin 2027"/>
          <p:cNvSpPr txBox="1"/>
          <p:nvPr/>
        </p:nvSpPr>
        <p:spPr>
          <a:xfrm>
            <a:off x="9226296" y="425196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Mi-parcours Atlas, retours tuteurs</a:t>
            </a:r>
            <a:endParaRPr lang="en-US" sz="800" dirty="0"/>
          </a:p>
        </p:txBody>
      </p:sp>
      <p:sp>
        <p:nvSpPr>
          <p:cNvPr id="84" name="Chevron Oct. 2027"/>
          <p:cNvSpPr/>
          <p:nvPr/>
        </p:nvSpPr>
        <p:spPr>
          <a:xfrm>
            <a:off x="10323576" y="3611880"/>
            <a:ext cx="1463040" cy="566928"/>
          </a:xfrm>
          <a:prstGeom prst="chevron">
            <a:avLst/>
          </a:prstGeom>
          <a:solidFill>
            <a:srgbClr val="15253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Date Oct. 2027"/>
          <p:cNvSpPr txBox="1"/>
          <p:nvPr/>
        </p:nvSpPr>
        <p:spPr>
          <a:xfrm>
            <a:off x="10579608" y="3611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Oct. 2027</a:t>
            </a:r>
            <a:endParaRPr lang="en-US" sz="1000" dirty="0"/>
          </a:p>
        </p:txBody>
      </p:sp>
      <p:pic>
        <p:nvPicPr>
          <p:cNvPr id="86" name="Icône Oct. 2027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96728" y="4270248"/>
            <a:ext cx="201168" cy="201168"/>
          </a:xfrm>
          <a:prstGeom prst="rect">
            <a:avLst/>
          </a:prstGeom>
        </p:spPr>
      </p:pic>
      <p:sp>
        <p:nvSpPr>
          <p:cNvPr id="87" name="Texte Oct. 2027"/>
          <p:cNvSpPr txBox="1"/>
          <p:nvPr/>
        </p:nvSpPr>
        <p:spPr>
          <a:xfrm>
            <a:off x="10652760" y="425196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Déploiement : 50 puis 100 apprentis</a:t>
            </a:r>
            <a:endParaRPr lang="en-US" sz="800" dirty="0"/>
          </a:p>
        </p:txBody>
      </p:sp>
      <p:sp>
        <p:nvSpPr>
          <p:cNvPr id="88" name="Marqueur aujourd'hui"/>
          <p:cNvSpPr/>
          <p:nvPr/>
        </p:nvSpPr>
        <p:spPr>
          <a:xfrm flipV="1">
            <a:off x="6044184" y="3465576"/>
            <a:ext cx="146304" cy="118872"/>
          </a:xfrm>
          <a:prstGeom prst="triangle">
            <a:avLst/>
          </a:prstGeom>
          <a:solidFill>
            <a:srgbClr val="01A6E0"/>
          </a:solidFill>
          <a:ln w="12700">
            <a:solidFill>
              <a:srgbClr val="01A6E0"/>
            </a:solidFill>
            <a:prstDash val="solid"/>
          </a:ln>
        </p:spPr>
      </p:sp>
      <p:sp>
        <p:nvSpPr>
          <p:cNvPr id="89" name="Texte aujourd&amp;apos;hui"/>
          <p:cNvSpPr txBox="1"/>
          <p:nvPr/>
        </p:nvSpPr>
        <p:spPr>
          <a:xfrm>
            <a:off x="6227064" y="341071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01A6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aujourd'hui</a:t>
            </a:r>
            <a:endParaRPr lang="en-US" sz="750" dirty="0"/>
          </a:p>
        </p:txBody>
      </p:sp>
      <p:sp>
        <p:nvSpPr>
          <p:cNvPr id="90" name="Label cibles"/>
          <p:cNvSpPr txBox="1"/>
          <p:nvPr/>
        </p:nvSpPr>
        <p:spPr>
          <a:xfrm>
            <a:off x="4617720" y="4956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01A6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CIBLES DU MVP  ·  NOV. 2026 → JANV. 2027</a:t>
            </a:r>
            <a:endParaRPr lang="en-US" sz="900" dirty="0"/>
          </a:p>
        </p:txBody>
      </p:sp>
      <p:sp>
        <p:nvSpPr>
          <p:cNvPr id="91" name="Cible 1"/>
          <p:cNvSpPr txBox="1"/>
          <p:nvPr/>
        </p:nvSpPr>
        <p:spPr>
          <a:xfrm>
            <a:off x="4617720" y="52303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A6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100 %</a:t>
            </a:r>
            <a:endParaRPr lang="en-US" sz="2200" dirty="0"/>
          </a:p>
        </p:txBody>
      </p:sp>
      <p:sp>
        <p:nvSpPr>
          <p:cNvPr id="92" name="Cible libellé 1"/>
          <p:cNvSpPr txBox="1"/>
          <p:nvPr/>
        </p:nvSpPr>
        <p:spPr>
          <a:xfrm>
            <a:off x="4617720" y="566928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la classe pilote connectée dès la première séance</a:t>
            </a:r>
            <a:endParaRPr lang="en-US" sz="850" dirty="0"/>
          </a:p>
        </p:txBody>
      </p:sp>
      <p:sp>
        <p:nvSpPr>
          <p:cNvPr id="93" name="Cible 2"/>
          <p:cNvSpPr txBox="1"/>
          <p:nvPr/>
        </p:nvSpPr>
        <p:spPr>
          <a:xfrm>
            <a:off x="6446520" y="52303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A6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2+ / sem.</a:t>
            </a:r>
            <a:endParaRPr lang="en-US" sz="2200" dirty="0"/>
          </a:p>
        </p:txBody>
      </p:sp>
      <p:sp>
        <p:nvSpPr>
          <p:cNvPr id="94" name="Cible libellé 2"/>
          <p:cNvSpPr txBox="1"/>
          <p:nvPr/>
        </p:nvSpPr>
        <p:spPr>
          <a:xfrm>
            <a:off x="6446520" y="566928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sessions par apprenti, en classe et en autonomie</a:t>
            </a:r>
            <a:endParaRPr lang="en-US" sz="850" dirty="0"/>
          </a:p>
        </p:txBody>
      </p:sp>
      <p:sp>
        <p:nvSpPr>
          <p:cNvPr id="95" name="Cible 3"/>
          <p:cNvSpPr txBox="1"/>
          <p:nvPr/>
        </p:nvSpPr>
        <p:spPr>
          <a:xfrm>
            <a:off x="8275320" y="52303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A6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80 %+</a:t>
            </a:r>
            <a:endParaRPr lang="en-US" sz="2200" dirty="0"/>
          </a:p>
        </p:txBody>
      </p:sp>
      <p:sp>
        <p:nvSpPr>
          <p:cNvPr id="96" name="Cible libellé 3"/>
          <p:cNvSpPr txBox="1"/>
          <p:nvPr/>
        </p:nvSpPr>
        <p:spPr>
          <a:xfrm>
            <a:off x="8275320" y="566928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 deux scénarios terminés et soumis</a:t>
            </a:r>
            <a:endParaRPr lang="en-US" sz="850" dirty="0"/>
          </a:p>
        </p:txBody>
      </p:sp>
      <p:sp>
        <p:nvSpPr>
          <p:cNvPr id="97" name="Cible 4"/>
          <p:cNvSpPr txBox="1"/>
          <p:nvPr/>
        </p:nvSpPr>
        <p:spPr>
          <a:xfrm>
            <a:off x="10104120" y="52303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A6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&lt; 1 min</a:t>
            </a:r>
            <a:endParaRPr lang="en-US" sz="2200" dirty="0"/>
          </a:p>
        </p:txBody>
      </p:sp>
      <p:sp>
        <p:nvSpPr>
          <p:cNvPr id="98" name="Cible libellé 4"/>
          <p:cNvSpPr txBox="1"/>
          <p:nvPr/>
        </p:nvSpPr>
        <p:spPr>
          <a:xfrm>
            <a:off x="10104120" y="566928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feedback IA, concordant avec l'enseignant</a:t>
            </a:r>
            <a:endParaRPr lang="en-US" sz="850" dirty="0"/>
          </a:p>
        </p:txBody>
      </p:sp>
      <p:sp>
        <p:nvSpPr>
          <p:cNvPr id="99" name="Sources"/>
          <p:cNvSpPr txBox="1"/>
          <p:nvPr/>
        </p:nvSpPr>
        <p:spPr>
          <a:xfrm>
            <a:off x="4617720" y="6355080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A94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Sources : Software Carpentry, Tips for Instructors (30 à 60 min) · ASEE, Student Frustration in Introductory Laboratory Experiences (78 %) · Cibles : proposition à valider.</a:t>
            </a:r>
            <a:endParaRPr lang="en-US" sz="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04" dur="500" fill="hold"/>
                                        <p:tgtEl>
                                          <p:spTgt spid="10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500"/>
                            </p:stCondLst>
                            <p:childTnLst>
                              <p:par>
                                <p:cTn id="107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09" dur="500" fill="hold"/>
                                        <p:tgtEl>
                                          <p:spTgt spid="12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</p:bldLst>
  </p:timing>
</p:sld>
</file>

<file path=ppt/theme/theme1.xml><?xml version="1.0" encoding="utf-8"?>
<a:theme xmlns:a="http://schemas.openxmlformats.org/drawingml/2006/main" name="PST&amp;B ImmersIA">
  <a:themeElements>
    <a:clrScheme name="PST&amp;B ImmersIA">
      <a:dk1>
        <a:srgbClr val="152539"/>
      </a:dk1>
      <a:lt1>
        <a:srgbClr val="FFFFFF"/>
      </a:lt1>
      <a:dk2>
        <a:srgbClr val="475569"/>
      </a:dk2>
      <a:lt2>
        <a:srgbClr val="EAF7FD"/>
      </a:lt2>
      <a:accent1>
        <a:srgbClr val="01A6E0"/>
      </a:accent1>
      <a:accent2>
        <a:srgbClr val="BC1A49"/>
      </a:accent2>
      <a:accent3>
        <a:srgbClr val="522582"/>
      </a:accent3>
      <a:accent4>
        <a:srgbClr val="0078BF"/>
      </a:accent4>
      <a:accent5>
        <a:srgbClr val="C97A00"/>
      </a:accent5>
      <a:accent6>
        <a:srgbClr val="8A94A6"/>
      </a:accent6>
      <a:hlink>
        <a:srgbClr val="01A6E0"/>
      </a:hlink>
      <a:folHlink>
        <a:srgbClr val="522582"/>
      </a:folHlink>
    </a:clrScheme>
    <a:fontScheme name="PST&amp;B ImmersIA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ImmersIA — commission d'ingénierie pédagogique</dc:title>
  <dc:subject>PptxGenJS Presentation</dc:subject>
  <dc:creator>PST&amp;B</dc:creator>
  <cp:lastModifiedBy>PST&amp;B</cp:lastModifiedBy>
  <cp:revision>1</cp:revision>
  <dcterms:created xsi:type="dcterms:W3CDTF">2026-10-07T11:47:05Z</dcterms:created>
  <dcterms:modified xsi:type="dcterms:W3CDTF">2026-10-07T11:47:05Z</dcterms:modified>
</cp:coreProperties>
</file>